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6858000" cx="12192000"/>
  <p:notesSz cx="6858000" cy="9144000"/>
  <p:embeddedFontLst>
    <p:embeddedFont>
      <p:font typeface="Century Schoolbook"/>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0" roundtripDataSignature="AMtx7mhfjGQauS36VluI7sexmknaPp4g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9CB92A-BAC5-4D10-B441-06AFE0B364DE}">
  <a:tblStyle styleId="{A59CB92A-BAC5-4D10-B441-06AFE0B364D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CenturySchoolbook-bold.fntdata"/><Relationship Id="rId14" Type="http://schemas.openxmlformats.org/officeDocument/2006/relationships/slide" Target="slides/slide7.xml"/><Relationship Id="rId36" Type="http://schemas.openxmlformats.org/officeDocument/2006/relationships/font" Target="fonts/CenturySchoolbook-regular.fntdata"/><Relationship Id="rId17" Type="http://schemas.openxmlformats.org/officeDocument/2006/relationships/slide" Target="slides/slide10.xml"/><Relationship Id="rId39" Type="http://schemas.openxmlformats.org/officeDocument/2006/relationships/font" Target="fonts/CenturySchoolbook-boldItalic.fntdata"/><Relationship Id="rId16" Type="http://schemas.openxmlformats.org/officeDocument/2006/relationships/slide" Target="slides/slide9.xml"/><Relationship Id="rId38" Type="http://schemas.openxmlformats.org/officeDocument/2006/relationships/font" Target="fonts/CenturySchoolbook-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bb7c1928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bb7c19287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abb7c19287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cc0a7022e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acc0a7022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c9a43ad1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c9a43ad1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ac9a43ad1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c9579fdd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c9579fdd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ac9579fdd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c9579fdd0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c9579fdd0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ac9579fdd0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c9579fdd0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ac9579fdd0_0_1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ac9579fdd0_0_10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cc0a7022e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acc0a7022e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acc0a7022e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cf817c85c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acf817c85c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acf817c85c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cf817c85c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cf817c85c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acf817c85c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c9579fdd0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ac9579fdd0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ac9579fdd0_0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cf817c85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cf817c85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acf817c85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cf817c85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cf817c85c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3acf817c85c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cc0a7022e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cc0a7022e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acc0a7022e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acc0a7022e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acc0a7022e_0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3acc0a7022e_0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cf817c85c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acf817c85c_1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3acf817c85c_1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acf817c85c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acf817c85c_1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3acf817c85c_1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acf5a24a5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3acf5a24a5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343437"/>
        </a:solidFill>
      </p:bgPr>
    </p:bg>
    <p:spTree>
      <p:nvGrpSpPr>
        <p:cNvPr id="16" name="Shape 16"/>
        <p:cNvGrpSpPr/>
        <p:nvPr/>
      </p:nvGrpSpPr>
      <p:grpSpPr>
        <a:xfrm>
          <a:off x="0" y="0"/>
          <a:ext cx="0" cy="0"/>
          <a:chOff x="0" y="0"/>
          <a:chExt cx="0" cy="0"/>
        </a:xfrm>
      </p:grpSpPr>
      <p:sp>
        <p:nvSpPr>
          <p:cNvPr id="17" name="Google Shape;17;p27"/>
          <p:cNvSpPr txBox="1"/>
          <p:nvPr>
            <p:ph type="ctr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7"/>
          <p:cNvSpPr txBox="1"/>
          <p:nvPr>
            <p:ph idx="1" type="subTitle"/>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19" name="Google Shape;19;p27"/>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1pPr>
            <a:lvl2pPr indent="0" lvl="1"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2pPr>
            <a:lvl3pPr indent="0" lvl="2"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3pPr>
            <a:lvl4pPr indent="0" lvl="3"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4pPr>
            <a:lvl5pPr indent="0" lvl="4"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5pPr>
            <a:lvl6pPr indent="0" lvl="5"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6pPr>
            <a:lvl7pPr indent="0" lvl="6"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7pPr>
            <a:lvl8pPr indent="0" lvl="7"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8pPr>
            <a:lvl9pPr indent="0" lvl="8"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
        <p:nvSpPr>
          <p:cNvPr id="22" name="Google Shape;22;p27"/>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28"/>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8"/>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33" name="Google Shape;33;p28"/>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8"/>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8"/>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343437"/>
        </a:solidFill>
      </p:bgPr>
    </p:bg>
    <p:spTree>
      <p:nvGrpSpPr>
        <p:cNvPr id="36" name="Shape 36"/>
        <p:cNvGrpSpPr/>
        <p:nvPr/>
      </p:nvGrpSpPr>
      <p:grpSpPr>
        <a:xfrm>
          <a:off x="0" y="0"/>
          <a:ext cx="0" cy="0"/>
          <a:chOff x="0" y="0"/>
          <a:chExt cx="0" cy="0"/>
        </a:xfrm>
      </p:grpSpPr>
      <p:sp>
        <p:nvSpPr>
          <p:cNvPr id="37" name="Google Shape;37;p26"/>
          <p:cNvSpPr txBox="1"/>
          <p:nvPr>
            <p:ph type="ctr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p:nvPr>
            <p:ph idx="1" type="subTitle"/>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39" name="Google Shape;39;p26"/>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6"/>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6"/>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1pPr>
            <a:lvl2pPr indent="0" lvl="1"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2pPr>
            <a:lvl3pPr indent="0" lvl="2"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3pPr>
            <a:lvl4pPr indent="0" lvl="3"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4pPr>
            <a:lvl5pPr indent="0" lvl="4"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5pPr>
            <a:lvl6pPr indent="0" lvl="5"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6pPr>
            <a:lvl7pPr indent="0" lvl="6"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7pPr>
            <a:lvl8pPr indent="0" lvl="7"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8pPr>
            <a:lvl9pPr indent="0" lvl="8"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26"/>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29"/>
          <p:cNvSpPr txBox="1"/>
          <p:nvPr>
            <p:ph type="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dk1"/>
              </a:buClr>
              <a:buSzPts val="7200"/>
              <a:buFont typeface="Century Schoolbook"/>
              <a:buNone/>
              <a:defRPr b="0"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9"/>
          <p:cNvSpPr txBox="1"/>
          <p:nvPr>
            <p:ph idx="1" type="body"/>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400"/>
              </a:spcBef>
              <a:spcAft>
                <a:spcPts val="0"/>
              </a:spcAft>
              <a:buSzPts val="1760"/>
              <a:buNone/>
              <a:defRPr sz="2200">
                <a:solidFill>
                  <a:srgbClr val="595959"/>
                </a:solidFill>
              </a:defRPr>
            </a:lvl1pPr>
            <a:lvl2pPr indent="-228600" lvl="1" marL="914400" algn="l">
              <a:lnSpc>
                <a:spcPct val="90000"/>
              </a:lnSpc>
              <a:spcBef>
                <a:spcPts val="300"/>
              </a:spcBef>
              <a:spcAft>
                <a:spcPts val="0"/>
              </a:spcAft>
              <a:buSzPts val="1800"/>
              <a:buNone/>
              <a:defRPr sz="1800">
                <a:solidFill>
                  <a:srgbClr val="888888"/>
                </a:solidFill>
              </a:defRPr>
            </a:lvl2pPr>
            <a:lvl3pPr indent="-228600" lvl="2" marL="1371600" algn="l">
              <a:lnSpc>
                <a:spcPct val="90000"/>
              </a:lnSpc>
              <a:spcBef>
                <a:spcPts val="300"/>
              </a:spcBef>
              <a:spcAft>
                <a:spcPts val="0"/>
              </a:spcAft>
              <a:buSzPts val="1600"/>
              <a:buNone/>
              <a:defRPr sz="1600">
                <a:solidFill>
                  <a:srgbClr val="888888"/>
                </a:solidFill>
              </a:defRPr>
            </a:lvl3pPr>
            <a:lvl4pPr indent="-228600" lvl="3" marL="1828800" algn="l">
              <a:lnSpc>
                <a:spcPct val="90000"/>
              </a:lnSpc>
              <a:spcBef>
                <a:spcPts val="300"/>
              </a:spcBef>
              <a:spcAft>
                <a:spcPts val="0"/>
              </a:spcAft>
              <a:buSzPts val="1400"/>
              <a:buNone/>
              <a:defRPr sz="1400">
                <a:solidFill>
                  <a:srgbClr val="888888"/>
                </a:solidFill>
              </a:defRPr>
            </a:lvl4pPr>
            <a:lvl5pPr indent="-228600" lvl="4" marL="2286000" algn="l">
              <a:lnSpc>
                <a:spcPct val="90000"/>
              </a:lnSpc>
              <a:spcBef>
                <a:spcPts val="300"/>
              </a:spcBef>
              <a:spcAft>
                <a:spcPts val="0"/>
              </a:spcAft>
              <a:buSzPts val="1400"/>
              <a:buNone/>
              <a:defRPr sz="1400">
                <a:solidFill>
                  <a:srgbClr val="888888"/>
                </a:solidFill>
              </a:defRPr>
            </a:lvl5pPr>
            <a:lvl6pPr indent="-228600" lvl="5" marL="2743200" algn="l">
              <a:lnSpc>
                <a:spcPct val="90000"/>
              </a:lnSpc>
              <a:spcBef>
                <a:spcPts val="300"/>
              </a:spcBef>
              <a:spcAft>
                <a:spcPts val="0"/>
              </a:spcAft>
              <a:buSzPts val="1400"/>
              <a:buNone/>
              <a:defRPr sz="1400">
                <a:solidFill>
                  <a:srgbClr val="888888"/>
                </a:solidFill>
              </a:defRPr>
            </a:lvl6pPr>
            <a:lvl7pPr indent="-228600" lvl="6" marL="3200400" algn="l">
              <a:lnSpc>
                <a:spcPct val="90000"/>
              </a:lnSpc>
              <a:spcBef>
                <a:spcPts val="300"/>
              </a:spcBef>
              <a:spcAft>
                <a:spcPts val="0"/>
              </a:spcAft>
              <a:buSzPts val="1400"/>
              <a:buNone/>
              <a:defRPr sz="1400">
                <a:solidFill>
                  <a:srgbClr val="888888"/>
                </a:solidFill>
              </a:defRPr>
            </a:lvl7pPr>
            <a:lvl8pPr indent="-228600" lvl="7" marL="3657600" algn="l">
              <a:lnSpc>
                <a:spcPct val="90000"/>
              </a:lnSpc>
              <a:spcBef>
                <a:spcPts val="300"/>
              </a:spcBef>
              <a:spcAft>
                <a:spcPts val="0"/>
              </a:spcAft>
              <a:buSzPts val="1400"/>
              <a:buNone/>
              <a:defRPr sz="1400">
                <a:solidFill>
                  <a:srgbClr val="888888"/>
                </a:solidFill>
              </a:defRPr>
            </a:lvl8pPr>
            <a:lvl9pPr indent="-228600" lvl="8" marL="4114800" algn="l">
              <a:lnSpc>
                <a:spcPct val="90000"/>
              </a:lnSpc>
              <a:spcBef>
                <a:spcPts val="300"/>
              </a:spcBef>
              <a:spcAft>
                <a:spcPts val="300"/>
              </a:spcAft>
              <a:buSzPts val="1400"/>
              <a:buNone/>
              <a:defRPr sz="1400">
                <a:solidFill>
                  <a:srgbClr val="888888"/>
                </a:solidFill>
              </a:defRPr>
            </a:lvl9pPr>
          </a:lstStyle>
          <a:p/>
        </p:txBody>
      </p:sp>
      <p:sp>
        <p:nvSpPr>
          <p:cNvPr id="46" name="Google Shape;46;p29"/>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9" name="Google Shape;49;p29"/>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30"/>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30"/>
          <p:cNvSpPr txBox="1"/>
          <p:nvPr>
            <p:ph idx="1" type="body"/>
          </p:nvPr>
        </p:nvSpPr>
        <p:spPr>
          <a:xfrm>
            <a:off x="1261872" y="1828800"/>
            <a:ext cx="44805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3" name="Google Shape;53;p30"/>
          <p:cNvSpPr txBox="1"/>
          <p:nvPr>
            <p:ph idx="2" type="body"/>
          </p:nvPr>
        </p:nvSpPr>
        <p:spPr>
          <a:xfrm>
            <a:off x="6126480" y="1828800"/>
            <a:ext cx="44805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4" name="Google Shape;54;p30"/>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0"/>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0"/>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31"/>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1"/>
          <p:cNvSpPr txBox="1"/>
          <p:nvPr>
            <p:ph idx="1" type="body"/>
          </p:nvPr>
        </p:nvSpPr>
        <p:spPr>
          <a:xfrm>
            <a:off x="1261872" y="1713655"/>
            <a:ext cx="4480560"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600"/>
              <a:buNone/>
              <a:defRPr b="0" sz="2000">
                <a:solidFill>
                  <a:schemeClr val="dk2"/>
                </a:solidFill>
              </a:defRPr>
            </a:lvl1pPr>
            <a:lvl2pPr indent="-228600" lvl="1" marL="914400" algn="l">
              <a:lnSpc>
                <a:spcPct val="90000"/>
              </a:lnSpc>
              <a:spcBef>
                <a:spcPts val="30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60" name="Google Shape;60;p31"/>
          <p:cNvSpPr txBox="1"/>
          <p:nvPr>
            <p:ph idx="2" type="body"/>
          </p:nvPr>
        </p:nvSpPr>
        <p:spPr>
          <a:xfrm>
            <a:off x="1261872" y="2507550"/>
            <a:ext cx="448056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1" name="Google Shape;61;p31"/>
          <p:cNvSpPr txBox="1"/>
          <p:nvPr>
            <p:ph idx="3" type="body"/>
          </p:nvPr>
        </p:nvSpPr>
        <p:spPr>
          <a:xfrm>
            <a:off x="6126480" y="1713655"/>
            <a:ext cx="4480560"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600"/>
              <a:buNone/>
              <a:defRPr b="0" sz="2000">
                <a:solidFill>
                  <a:schemeClr val="dk2"/>
                </a:solidFill>
                <a:latin typeface="Century Schoolbook"/>
                <a:ea typeface="Century Schoolbook"/>
                <a:cs typeface="Century Schoolbook"/>
                <a:sym typeface="Century Schoolbook"/>
              </a:defRPr>
            </a:lvl1pPr>
            <a:lvl2pPr indent="-228600" lvl="1" marL="914400" algn="l">
              <a:lnSpc>
                <a:spcPct val="90000"/>
              </a:lnSpc>
              <a:spcBef>
                <a:spcPts val="30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62" name="Google Shape;62;p31"/>
          <p:cNvSpPr txBox="1"/>
          <p:nvPr>
            <p:ph idx="4" type="body"/>
          </p:nvPr>
        </p:nvSpPr>
        <p:spPr>
          <a:xfrm>
            <a:off x="6126480" y="2507550"/>
            <a:ext cx="448056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3" name="Google Shape;63;p31"/>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1"/>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1"/>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32"/>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2"/>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2"/>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2"/>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33"/>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3"/>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34"/>
          <p:cNvSpPr txBox="1"/>
          <p:nvPr>
            <p:ph type="title"/>
          </p:nvPr>
        </p:nvSpPr>
        <p:spPr>
          <a:xfrm>
            <a:off x="841248" y="457200"/>
            <a:ext cx="320040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Schoolbook"/>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4"/>
          <p:cNvSpPr txBox="1"/>
          <p:nvPr>
            <p:ph idx="1" type="body"/>
          </p:nvPr>
        </p:nvSpPr>
        <p:spPr>
          <a:xfrm>
            <a:off x="4504267" y="685800"/>
            <a:ext cx="6079066" cy="5486400"/>
          </a:xfrm>
          <a:prstGeom prst="rect">
            <a:avLst/>
          </a:prstGeom>
          <a:noFill/>
          <a:ln>
            <a:noFill/>
          </a:ln>
        </p:spPr>
        <p:txBody>
          <a:bodyPr anchorCtr="0" anchor="t" bIns="45700" lIns="91425" spcFirstLastPara="1" rIns="91425" wrap="square" tIns="45700">
            <a:normAutofit/>
          </a:bodyPr>
          <a:lstStyle>
            <a:lvl1pPr indent="-330200" lvl="0" marL="457200" algn="l">
              <a:lnSpc>
                <a:spcPct val="95000"/>
              </a:lnSpc>
              <a:spcBef>
                <a:spcPts val="1400"/>
              </a:spcBef>
              <a:spcAft>
                <a:spcPts val="0"/>
              </a:spcAft>
              <a:buSzPts val="1600"/>
              <a:buChar char="•"/>
              <a:defRPr sz="2000"/>
            </a:lvl1pPr>
            <a:lvl2pPr indent="-342900" lvl="1" marL="914400" algn="l">
              <a:lnSpc>
                <a:spcPct val="90000"/>
              </a:lnSpc>
              <a:spcBef>
                <a:spcPts val="300"/>
              </a:spcBef>
              <a:spcAft>
                <a:spcPts val="0"/>
              </a:spcAft>
              <a:buSzPts val="1800"/>
              <a:buChar char="●"/>
              <a:defRPr sz="1800"/>
            </a:lvl2pPr>
            <a:lvl3pPr indent="-330200" lvl="2" marL="1371600" algn="l">
              <a:lnSpc>
                <a:spcPct val="90000"/>
              </a:lnSpc>
              <a:spcBef>
                <a:spcPts val="300"/>
              </a:spcBef>
              <a:spcAft>
                <a:spcPts val="0"/>
              </a:spcAft>
              <a:buSzPts val="1600"/>
              <a:buChar char="●"/>
              <a:defRPr sz="16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78" name="Google Shape;78;p34"/>
          <p:cNvSpPr txBox="1"/>
          <p:nvPr>
            <p:ph idx="2" type="body"/>
          </p:nvPr>
        </p:nvSpPr>
        <p:spPr>
          <a:xfrm>
            <a:off x="841248" y="2099734"/>
            <a:ext cx="320040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114000"/>
              </a:lnSpc>
              <a:spcBef>
                <a:spcPts val="800"/>
              </a:spcBef>
              <a:spcAft>
                <a:spcPts val="0"/>
              </a:spcAft>
              <a:buSzPts val="1040"/>
              <a:buNone/>
              <a:defRPr sz="1300"/>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79" name="Google Shape;79;p34"/>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4"/>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4"/>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2" name="Shape 82"/>
        <p:cNvGrpSpPr/>
        <p:nvPr/>
      </p:nvGrpSpPr>
      <p:grpSpPr>
        <a:xfrm>
          <a:off x="0" y="0"/>
          <a:ext cx="0" cy="0"/>
          <a:chOff x="0" y="0"/>
          <a:chExt cx="0" cy="0"/>
        </a:xfrm>
      </p:grpSpPr>
      <p:sp>
        <p:nvSpPr>
          <p:cNvPr id="83" name="Google Shape;83;p35"/>
          <p:cNvSpPr/>
          <p:nvPr/>
        </p:nvSpPr>
        <p:spPr>
          <a:xfrm>
            <a:off x="0" y="5105400"/>
            <a:ext cx="11292840" cy="1752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5"/>
          <p:cNvSpPr txBox="1"/>
          <p:nvPr>
            <p:ph type="title"/>
          </p:nvPr>
        </p:nvSpPr>
        <p:spPr>
          <a:xfrm>
            <a:off x="914400" y="5257800"/>
            <a:ext cx="998220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entury Schoolbook"/>
              <a:buNone/>
              <a:defRPr b="0"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5"/>
          <p:cNvSpPr/>
          <p:nvPr>
            <p:ph idx="2" type="pic"/>
          </p:nvPr>
        </p:nvSpPr>
        <p:spPr>
          <a:xfrm>
            <a:off x="0" y="0"/>
            <a:ext cx="11292840" cy="5128923"/>
          </a:xfrm>
          <a:prstGeom prst="rect">
            <a:avLst/>
          </a:prstGeom>
          <a:solidFill>
            <a:schemeClr val="accent1"/>
          </a:solidFill>
          <a:ln>
            <a:noFill/>
          </a:ln>
        </p:spPr>
      </p:sp>
      <p:sp>
        <p:nvSpPr>
          <p:cNvPr id="86" name="Google Shape;86;p35"/>
          <p:cNvSpPr txBox="1"/>
          <p:nvPr>
            <p:ph idx="1" type="body"/>
          </p:nvPr>
        </p:nvSpPr>
        <p:spPr>
          <a:xfrm>
            <a:off x="914400" y="6108589"/>
            <a:ext cx="9982200" cy="59701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1040"/>
              <a:buNone/>
              <a:defRPr sz="1300">
                <a:solidFill>
                  <a:srgbClr val="D8D8D8"/>
                </a:solidFill>
              </a:defRPr>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87" name="Google Shape;87;p35"/>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5"/>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5"/>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6"/>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6"/>
          <p:cNvSpPr txBox="1"/>
          <p:nvPr>
            <p:ph idx="1" type="body"/>
          </p:nvPr>
        </p:nvSpPr>
        <p:spPr>
          <a:xfrm rot="5400000">
            <a:off x="3383884" y="-293212"/>
            <a:ext cx="4351337" cy="859536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93" name="Google Shape;93;p36"/>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6"/>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6"/>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7"/>
          <p:cNvSpPr txBox="1"/>
          <p:nvPr>
            <p:ph type="title"/>
          </p:nvPr>
        </p:nvSpPr>
        <p:spPr>
          <a:xfrm rot="5400000">
            <a:off x="6938169" y="2091531"/>
            <a:ext cx="5897562" cy="2476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37"/>
          <p:cNvSpPr txBox="1"/>
          <p:nvPr>
            <p:ph idx="1" type="body"/>
          </p:nvPr>
        </p:nvSpPr>
        <p:spPr>
          <a:xfrm rot="5400000">
            <a:off x="1680369" y="-537369"/>
            <a:ext cx="5897562"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99" name="Google Shape;99;p37"/>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7"/>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7"/>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5"/>
          <p:cNvSpPr/>
          <p:nvPr/>
        </p:nvSpPr>
        <p:spPr>
          <a:xfrm>
            <a:off x="11292840" y="0"/>
            <a:ext cx="914400" cy="6858000"/>
          </a:xfrm>
          <a:prstGeom prst="rect">
            <a:avLst/>
          </a:prstGeom>
          <a:solidFill>
            <a:srgbClr val="A7A1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5"/>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entury Schoolbook"/>
              <a:buNone/>
              <a:defRPr b="0" i="0" sz="4400" u="none" cap="none" strike="noStrike">
                <a:solidFill>
                  <a:schemeClr val="lt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5"/>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lt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FEFEFE"/>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9pPr>
          </a:lstStyle>
          <a:p/>
        </p:txBody>
      </p:sp>
      <p:sp>
        <p:nvSpPr>
          <p:cNvPr id="13" name="Google Shape;13;p25"/>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F6F5F4"/>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4" name="Google Shape;14;p25"/>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F6F5F4"/>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5" name="Google Shape;15;p25"/>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1pPr>
            <a:lvl2pPr indent="0" lvl="1"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2pPr>
            <a:lvl3pPr indent="0" lvl="2"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3pPr>
            <a:lvl4pPr indent="0" lvl="3"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4pPr>
            <a:lvl5pPr indent="0" lvl="4"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5pPr>
            <a:lvl6pPr indent="0" lvl="5"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6pPr>
            <a:lvl7pPr indent="0" lvl="6"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7pPr>
            <a:lvl8pPr indent="0" lvl="7"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8pPr>
            <a:lvl9pPr indent="0" lvl="8"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sp>
        <p:nvSpPr>
          <p:cNvPr id="24" name="Google Shape;24;p24"/>
          <p:cNvSpPr/>
          <p:nvPr/>
        </p:nvSpPr>
        <p:spPr>
          <a:xfrm>
            <a:off x="11292840" y="0"/>
            <a:ext cx="914400" cy="6858000"/>
          </a:xfrm>
          <a:prstGeom prst="rect">
            <a:avLst/>
          </a:prstGeom>
          <a:solidFill>
            <a:srgbClr val="3434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4"/>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entury Schoolbook"/>
              <a:buNone/>
              <a:defRPr b="0" i="0" sz="4400" u="none" cap="none" strike="noStrike">
                <a:solidFill>
                  <a:schemeClr val="dk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24"/>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dk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262626"/>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9pPr>
          </a:lstStyle>
          <a:p/>
        </p:txBody>
      </p:sp>
      <p:sp>
        <p:nvSpPr>
          <p:cNvPr id="27" name="Google Shape;27;p24"/>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DADADA"/>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28" name="Google Shape;28;p24"/>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DADADA"/>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29" name="Google Shape;29;p24"/>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1pPr>
            <a:lvl2pPr indent="0" lvl="1"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2pPr>
            <a:lvl3pPr indent="0" lvl="2"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3pPr>
            <a:lvl4pPr indent="0" lvl="3"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4pPr>
            <a:lvl5pPr indent="0" lvl="4"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5pPr>
            <a:lvl6pPr indent="0" lvl="5"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6pPr>
            <a:lvl7pPr indent="0" lvl="6"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7pPr>
            <a:lvl8pPr indent="0" lvl="7"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8pPr>
            <a:lvl9pPr indent="0" lvl="8"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3437"/>
        </a:solidFill>
      </p:bgPr>
    </p:bg>
    <p:spTree>
      <p:nvGrpSpPr>
        <p:cNvPr id="105" name="Shape 105"/>
        <p:cNvGrpSpPr/>
        <p:nvPr/>
      </p:nvGrpSpPr>
      <p:grpSpPr>
        <a:xfrm>
          <a:off x="0" y="0"/>
          <a:ext cx="0" cy="0"/>
          <a:chOff x="0" y="0"/>
          <a:chExt cx="0" cy="0"/>
        </a:xfrm>
      </p:grpSpPr>
      <p:sp>
        <p:nvSpPr>
          <p:cNvPr id="106" name="Google Shape;106;p1"/>
          <p:cNvSpPr txBox="1"/>
          <p:nvPr>
            <p:ph type="ctrTitle"/>
          </p:nvPr>
        </p:nvSpPr>
        <p:spPr>
          <a:xfrm>
            <a:off x="855940" y="1416546"/>
            <a:ext cx="10480120" cy="1813351"/>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lt1"/>
              </a:buClr>
              <a:buSzPct val="98876"/>
              <a:buFont typeface="Century Schoolbook"/>
              <a:buNone/>
            </a:pPr>
            <a:r>
              <a:rPr lang="en-US" sz="4450"/>
              <a:t>AI-Powered Real-Time Theft Detection System for Shopping Malls</a:t>
            </a:r>
            <a:endParaRPr/>
          </a:p>
          <a:p>
            <a:pPr indent="0" lvl="0" marL="0" rtl="0" algn="ctr">
              <a:lnSpc>
                <a:spcPct val="85000"/>
              </a:lnSpc>
              <a:spcBef>
                <a:spcPts val="0"/>
              </a:spcBef>
              <a:spcAft>
                <a:spcPts val="0"/>
              </a:spcAft>
              <a:buClr>
                <a:schemeClr val="lt1"/>
              </a:buClr>
              <a:buSzPct val="100000"/>
              <a:buFont typeface="Century Schoolbook"/>
              <a:buNone/>
            </a:pPr>
            <a:r>
              <a:t/>
            </a:r>
            <a:endParaRPr sz="4400"/>
          </a:p>
        </p:txBody>
      </p:sp>
      <p:sp>
        <p:nvSpPr>
          <p:cNvPr id="107" name="Google Shape;107;p1"/>
          <p:cNvSpPr txBox="1"/>
          <p:nvPr>
            <p:ph idx="1" type="subTitle"/>
          </p:nvPr>
        </p:nvSpPr>
        <p:spPr>
          <a:xfrm>
            <a:off x="1261871" y="4165201"/>
            <a:ext cx="4578489" cy="2117611"/>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spcBef>
                <a:spcPts val="0"/>
              </a:spcBef>
              <a:spcAft>
                <a:spcPts val="0"/>
              </a:spcAft>
              <a:buClr>
                <a:schemeClr val="dk1"/>
              </a:buClr>
              <a:buSzPct val="26363"/>
              <a:buFont typeface="Arial"/>
              <a:buNone/>
            </a:pPr>
            <a:r>
              <a:rPr b="1" lang="en-US" sz="8800"/>
              <a:t>Group Members:</a:t>
            </a:r>
            <a:endParaRPr b="1" sz="8800"/>
          </a:p>
          <a:p>
            <a:pPr indent="0" lvl="0" marL="0" rtl="0" algn="l">
              <a:spcBef>
                <a:spcPts val="0"/>
              </a:spcBef>
              <a:spcAft>
                <a:spcPts val="0"/>
              </a:spcAft>
              <a:buClr>
                <a:schemeClr val="dk1"/>
              </a:buClr>
              <a:buSzPct val="26363"/>
              <a:buFont typeface="Arial"/>
              <a:buNone/>
            </a:pPr>
            <a:r>
              <a:t/>
            </a:r>
            <a:endParaRPr b="1" sz="8800"/>
          </a:p>
          <a:p>
            <a:pPr indent="0" lvl="0" marL="0" rtl="0" algn="l">
              <a:spcBef>
                <a:spcPts val="0"/>
              </a:spcBef>
              <a:spcAft>
                <a:spcPts val="0"/>
              </a:spcAft>
              <a:buClr>
                <a:schemeClr val="dk1"/>
              </a:buClr>
              <a:buSzPts val="275"/>
              <a:buFont typeface="Arial"/>
              <a:buNone/>
            </a:pPr>
            <a:r>
              <a:rPr lang="en-US" sz="8800"/>
              <a:t>Muhammad Nadeem(22P-9366)</a:t>
            </a:r>
            <a:endParaRPr sz="8800"/>
          </a:p>
          <a:p>
            <a:pPr indent="0" lvl="0" marL="0" rtl="0" algn="l">
              <a:spcBef>
                <a:spcPts val="1600"/>
              </a:spcBef>
              <a:spcAft>
                <a:spcPts val="0"/>
              </a:spcAft>
              <a:buClr>
                <a:schemeClr val="dk1"/>
              </a:buClr>
              <a:buSzPts val="275"/>
              <a:buFont typeface="Arial"/>
              <a:buNone/>
            </a:pPr>
            <a:r>
              <a:rPr lang="en-US" sz="8800"/>
              <a:t>Laiba Shahi(22P-9247)</a:t>
            </a:r>
            <a:endParaRPr sz="8800"/>
          </a:p>
          <a:p>
            <a:pPr indent="0" lvl="0" marL="0" rtl="0" algn="l">
              <a:spcBef>
                <a:spcPts val="1600"/>
              </a:spcBef>
              <a:spcAft>
                <a:spcPts val="0"/>
              </a:spcAft>
              <a:buClr>
                <a:schemeClr val="dk1"/>
              </a:buClr>
              <a:buSzPts val="275"/>
              <a:buFont typeface="Arial"/>
              <a:buNone/>
            </a:pPr>
            <a:r>
              <a:rPr lang="en-US" sz="8800"/>
              <a:t>Sultan Mehmood Mughal(22P-9242)</a:t>
            </a:r>
            <a:endParaRPr sz="8800"/>
          </a:p>
          <a:p>
            <a:pPr indent="0" lvl="0" marL="0" rtl="0" algn="l">
              <a:spcBef>
                <a:spcPts val="1600"/>
              </a:spcBef>
              <a:spcAft>
                <a:spcPts val="0"/>
              </a:spcAft>
              <a:buClr>
                <a:schemeClr val="dk1"/>
              </a:buClr>
              <a:buSzPts val="518"/>
              <a:buFont typeface="Arial"/>
              <a:buNone/>
            </a:pPr>
            <a:r>
              <a:t/>
            </a:r>
            <a:endParaRPr sz="8800">
              <a:solidFill>
                <a:srgbClr val="B4B4B6"/>
              </a:solidFill>
            </a:endParaRPr>
          </a:p>
          <a:p>
            <a:pPr indent="0" lvl="0" marL="0" rtl="0" algn="l">
              <a:spcBef>
                <a:spcPts val="1400"/>
              </a:spcBef>
              <a:spcAft>
                <a:spcPts val="0"/>
              </a:spcAft>
              <a:buClr>
                <a:schemeClr val="dk1"/>
              </a:buClr>
              <a:buSzPct val="73333"/>
              <a:buFont typeface="Arial"/>
              <a:buNone/>
            </a:pPr>
            <a:r>
              <a:t/>
            </a:r>
            <a:endParaRPr sz="2400"/>
          </a:p>
          <a:p>
            <a:pPr indent="0" lvl="0" marL="0" rtl="0" algn="l">
              <a:lnSpc>
                <a:spcPct val="95000"/>
              </a:lnSpc>
              <a:spcBef>
                <a:spcPts val="1400"/>
              </a:spcBef>
              <a:spcAft>
                <a:spcPts val="0"/>
              </a:spcAft>
              <a:buSzPct val="80000"/>
              <a:buNone/>
            </a:pPr>
            <a:r>
              <a:t/>
            </a:r>
            <a:endParaRPr/>
          </a:p>
        </p:txBody>
      </p:sp>
      <p:sp>
        <p:nvSpPr>
          <p:cNvPr id="108" name="Google Shape;108;p1"/>
          <p:cNvSpPr txBox="1"/>
          <p:nvPr/>
        </p:nvSpPr>
        <p:spPr>
          <a:xfrm>
            <a:off x="6782874" y="4165200"/>
            <a:ext cx="3762900" cy="1691700"/>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0"/>
              </a:spcBef>
              <a:spcAft>
                <a:spcPts val="0"/>
              </a:spcAft>
              <a:buClr>
                <a:schemeClr val="accent1"/>
              </a:buClr>
              <a:buSzPts val="1760"/>
              <a:buFont typeface="Arial"/>
              <a:buNone/>
            </a:pPr>
            <a:r>
              <a:rPr lang="en-US" sz="2400">
                <a:solidFill>
                  <a:srgbClr val="BFBFBF"/>
                </a:solidFill>
                <a:latin typeface="Century Schoolbook"/>
                <a:ea typeface="Century Schoolbook"/>
                <a:cs typeface="Century Schoolbook"/>
                <a:sym typeface="Century Schoolbook"/>
              </a:rPr>
              <a:t>Project Supervisor</a:t>
            </a:r>
            <a:endParaRPr sz="2400">
              <a:solidFill>
                <a:srgbClr val="BFBFBF"/>
              </a:solidFill>
              <a:latin typeface="Calibri"/>
              <a:ea typeface="Calibri"/>
              <a:cs typeface="Calibri"/>
              <a:sym typeface="Calibri"/>
            </a:endParaRPr>
          </a:p>
          <a:p>
            <a:pPr indent="0" lvl="0" marL="0" rtl="0" algn="l">
              <a:lnSpc>
                <a:spcPct val="95000"/>
              </a:lnSpc>
              <a:spcBef>
                <a:spcPts val="1400"/>
              </a:spcBef>
              <a:spcAft>
                <a:spcPts val="0"/>
              </a:spcAft>
              <a:buClr>
                <a:schemeClr val="accent1"/>
              </a:buClr>
              <a:buSzPts val="2240"/>
              <a:buFont typeface="Arial"/>
              <a:buNone/>
            </a:pPr>
            <a:r>
              <a:rPr lang="en-US" sz="2800">
                <a:solidFill>
                  <a:srgbClr val="B4B4B6"/>
                </a:solidFill>
                <a:latin typeface="Century Schoolbook"/>
                <a:ea typeface="Century Schoolbook"/>
                <a:cs typeface="Century Schoolbook"/>
                <a:sym typeface="Century Schoolbook"/>
              </a:rPr>
              <a:t> Dr. Hafeez Anwar </a:t>
            </a:r>
            <a:endParaRPr sz="2800">
              <a:solidFill>
                <a:srgbClr val="B4B4B6"/>
              </a:solidFill>
              <a:latin typeface="Century Schoolbook"/>
              <a:ea typeface="Century Schoolbook"/>
              <a:cs typeface="Century Schoolbook"/>
              <a:sym typeface="Century Schoolbook"/>
            </a:endParaRPr>
          </a:p>
          <a:p>
            <a:pPr indent="0" lvl="0" marL="0" marR="0" rtl="0" algn="l">
              <a:lnSpc>
                <a:spcPct val="95000"/>
              </a:lnSpc>
              <a:spcBef>
                <a:spcPts val="1400"/>
              </a:spcBef>
              <a:spcAft>
                <a:spcPts val="0"/>
              </a:spcAft>
              <a:buClr>
                <a:schemeClr val="accent1"/>
              </a:buClr>
              <a:buSzPts val="2240"/>
              <a:buFont typeface="Arial"/>
              <a:buNone/>
            </a:pPr>
            <a:r>
              <a:t/>
            </a:r>
            <a:endParaRPr sz="2400">
              <a:solidFill>
                <a:srgbClr val="BFBFBF"/>
              </a:solidFill>
              <a:latin typeface="Century Schoolbook"/>
              <a:ea typeface="Century Schoolbook"/>
              <a:cs typeface="Century Schoolbook"/>
              <a:sym typeface="Century Schoolbook"/>
            </a:endParaRPr>
          </a:p>
        </p:txBody>
      </p:sp>
      <p:pic>
        <p:nvPicPr>
          <p:cNvPr descr="National University of Computer and Emerging Sciences - Wikipedia" id="109" name="Google Shape;109;p1"/>
          <p:cNvPicPr preferRelativeResize="0"/>
          <p:nvPr/>
        </p:nvPicPr>
        <p:blipFill rotWithShape="1">
          <a:blip r:embed="rId3">
            <a:alphaModFix/>
          </a:blip>
          <a:srcRect b="0" l="0" r="0" t="0"/>
          <a:stretch/>
        </p:blipFill>
        <p:spPr>
          <a:xfrm>
            <a:off x="10269514" y="255554"/>
            <a:ext cx="1472478" cy="14724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Font typeface="Century Schoolbook"/>
              <a:buNone/>
            </a:pPr>
            <a:r>
              <a:rPr lang="en-US" u="sng"/>
              <a:t>Introduction</a:t>
            </a:r>
            <a:endParaRPr u="sng"/>
          </a:p>
          <a:p>
            <a:pPr indent="0" lvl="0" marL="0" rtl="0" algn="l">
              <a:lnSpc>
                <a:spcPct val="90000"/>
              </a:lnSpc>
              <a:spcBef>
                <a:spcPts val="0"/>
              </a:spcBef>
              <a:spcAft>
                <a:spcPts val="0"/>
              </a:spcAft>
              <a:buClr>
                <a:schemeClr val="dk1"/>
              </a:buClr>
              <a:buSzPts val="4400"/>
              <a:buFont typeface="Century Schoolbook"/>
              <a:buNone/>
            </a:pPr>
            <a:r>
              <a:t/>
            </a:r>
            <a:endParaRPr/>
          </a:p>
        </p:txBody>
      </p:sp>
      <p:sp>
        <p:nvSpPr>
          <p:cNvPr id="115" name="Google Shape;115;p2"/>
          <p:cNvSpPr txBox="1"/>
          <p:nvPr>
            <p:ph idx="1" type="body"/>
          </p:nvPr>
        </p:nvSpPr>
        <p:spPr>
          <a:xfrm>
            <a:off x="1017639" y="1691322"/>
            <a:ext cx="8839593" cy="4480877"/>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15000"/>
              </a:lnSpc>
              <a:spcBef>
                <a:spcPts val="1600"/>
              </a:spcBef>
              <a:spcAft>
                <a:spcPts val="0"/>
              </a:spcAft>
              <a:buNone/>
            </a:pPr>
            <a:r>
              <a:rPr lang="en-US" sz="2300"/>
              <a:t>An </a:t>
            </a:r>
            <a:r>
              <a:rPr b="1" lang="en-US" sz="2300"/>
              <a:t>AI-powered theft detection system</a:t>
            </a:r>
            <a:r>
              <a:rPr lang="en-US" sz="2300"/>
              <a:t> analyzes CCTV footage to identify suspicious activities in real time, ensuring quick alerts and enhanced mall security through intelligent automation.</a:t>
            </a:r>
            <a:endParaRPr b="1" sz="2300"/>
          </a:p>
          <a:p>
            <a:pPr indent="0" lvl="0" marL="0" rtl="0" algn="l">
              <a:lnSpc>
                <a:spcPct val="115000"/>
              </a:lnSpc>
              <a:spcBef>
                <a:spcPts val="1400"/>
              </a:spcBef>
              <a:spcAft>
                <a:spcPts val="0"/>
              </a:spcAft>
              <a:buNone/>
            </a:pPr>
            <a:r>
              <a:rPr b="1" lang="en-US" sz="2300"/>
              <a:t>Why AI for Theft Detection?</a:t>
            </a:r>
            <a:endParaRPr b="1" sz="2300"/>
          </a:p>
          <a:p>
            <a:pPr indent="-363696" lvl="0" marL="457200" rtl="0" algn="l">
              <a:lnSpc>
                <a:spcPct val="115000"/>
              </a:lnSpc>
              <a:spcBef>
                <a:spcPts val="1200"/>
              </a:spcBef>
              <a:spcAft>
                <a:spcPts val="0"/>
              </a:spcAft>
              <a:buClr>
                <a:schemeClr val="dk1"/>
              </a:buClr>
              <a:buSzPct val="100000"/>
              <a:buChar char="●"/>
            </a:pPr>
            <a:r>
              <a:rPr b="1" lang="en-US" sz="2300"/>
              <a:t>Efficient Video Processing</a:t>
            </a:r>
            <a:r>
              <a:rPr lang="en-US" sz="2300"/>
              <a:t> – Handles multiple CCTV feeds simultaneously.</a:t>
            </a:r>
            <a:endParaRPr sz="2300"/>
          </a:p>
          <a:p>
            <a:pPr indent="-363696" lvl="0" marL="457200" rtl="0" algn="l">
              <a:lnSpc>
                <a:spcPct val="115000"/>
              </a:lnSpc>
              <a:spcBef>
                <a:spcPts val="0"/>
              </a:spcBef>
              <a:spcAft>
                <a:spcPts val="0"/>
              </a:spcAft>
              <a:buClr>
                <a:schemeClr val="dk1"/>
              </a:buClr>
              <a:buSzPct val="100000"/>
              <a:buChar char="●"/>
            </a:pPr>
            <a:r>
              <a:rPr b="1" lang="en-US" sz="2300"/>
              <a:t>Real-Time Action Recognition</a:t>
            </a:r>
            <a:r>
              <a:rPr lang="en-US" sz="2300"/>
              <a:t> – Detects theft-related behaviors instantly.</a:t>
            </a:r>
            <a:endParaRPr sz="2300"/>
          </a:p>
          <a:p>
            <a:pPr indent="-363696" lvl="0" marL="457200" rtl="0" algn="l">
              <a:lnSpc>
                <a:spcPct val="115000"/>
              </a:lnSpc>
              <a:spcBef>
                <a:spcPts val="0"/>
              </a:spcBef>
              <a:spcAft>
                <a:spcPts val="0"/>
              </a:spcAft>
              <a:buClr>
                <a:schemeClr val="dk1"/>
              </a:buClr>
              <a:buSzPct val="100000"/>
              <a:buChar char="●"/>
            </a:pPr>
            <a:r>
              <a:rPr b="1" lang="en-US" sz="2300"/>
              <a:t>Faster, Accurate Alerts</a:t>
            </a:r>
            <a:r>
              <a:rPr lang="en-US" sz="2300"/>
              <a:t> – Reduces human error and improves response time.</a:t>
            </a:r>
            <a:endParaRPr sz="2300"/>
          </a:p>
          <a:p>
            <a:pPr indent="0" lvl="0" marL="182880" rtl="0" algn="l">
              <a:spcBef>
                <a:spcPts val="1600"/>
              </a:spcBef>
              <a:spcAft>
                <a:spcPts val="0"/>
              </a:spcAft>
              <a:buNone/>
            </a:pPr>
            <a:r>
              <a:t/>
            </a:r>
            <a:endParaRPr sz="2200"/>
          </a:p>
        </p:txBody>
      </p:sp>
      <p:pic>
        <p:nvPicPr>
          <p:cNvPr descr="National University of Computer and Emerging Sciences - Wikipedia" id="116" name="Google Shape;116;p2"/>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sp>
        <p:nvSpPr>
          <p:cNvPr id="117" name="Google Shape;117;p2"/>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Problem Statement</a:t>
            </a:r>
            <a:endParaRPr/>
          </a:p>
        </p:txBody>
      </p:sp>
      <p:sp>
        <p:nvSpPr>
          <p:cNvPr id="123" name="Google Shape;123;p3"/>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124" name="Google Shape;124;p3"/>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sp>
        <p:nvSpPr>
          <p:cNvPr id="125" name="Google Shape;125;p3"/>
          <p:cNvSpPr txBox="1"/>
          <p:nvPr/>
        </p:nvSpPr>
        <p:spPr>
          <a:xfrm>
            <a:off x="1327550" y="1760061"/>
            <a:ext cx="8583600" cy="2940000"/>
          </a:xfrm>
          <a:prstGeom prst="rect">
            <a:avLst/>
          </a:prstGeom>
          <a:noFill/>
          <a:ln>
            <a:noFill/>
          </a:ln>
        </p:spPr>
        <p:txBody>
          <a:bodyPr anchorCtr="0" anchor="t" bIns="45700" lIns="91425" spcFirstLastPara="1" rIns="91425" wrap="square" tIns="45700">
            <a:spAutoFit/>
          </a:bodyPr>
          <a:lstStyle/>
          <a:p>
            <a:pPr indent="-190500" lvl="0" marL="342900" rtl="0" algn="l">
              <a:spcBef>
                <a:spcPts val="0"/>
              </a:spcBef>
              <a:spcAft>
                <a:spcPts val="0"/>
              </a:spcAft>
              <a:buNone/>
            </a:pPr>
            <a:r>
              <a:rPr lang="en-US" sz="2300">
                <a:solidFill>
                  <a:schemeClr val="dk1"/>
                </a:solidFill>
                <a:latin typeface="Century Schoolbook"/>
                <a:ea typeface="Century Schoolbook"/>
                <a:cs typeface="Century Schoolbook"/>
                <a:sym typeface="Century Schoolbook"/>
              </a:rPr>
              <a:t>  Current shoplifting detection systems often fail in shopping malls due to small datasets, occlusion, and crowded scenes. They also struggle to detect multiple thefts under one camera, leading to missed or inaccurate alerts. Therefore, a reliable deep learning-based system is needed to detect multiple thefts accurately in real time, even in complex mall environments.</a:t>
            </a:r>
            <a:endParaRPr sz="2300">
              <a:solidFill>
                <a:schemeClr val="dk1"/>
              </a:solidFill>
              <a:latin typeface="Century Schoolbook"/>
              <a:ea typeface="Century Schoolbook"/>
              <a:cs typeface="Century Schoolbook"/>
              <a:sym typeface="Century Schoolbook"/>
            </a:endParaRPr>
          </a:p>
          <a:p>
            <a:pPr indent="0" lvl="0" marL="457200" marR="0" rtl="0" algn="l">
              <a:spcBef>
                <a:spcPts val="0"/>
              </a:spcBef>
              <a:spcAft>
                <a:spcPts val="0"/>
              </a:spcAft>
              <a:buNone/>
            </a:pPr>
            <a:r>
              <a:t/>
            </a:r>
            <a:endParaRPr sz="24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996401" y="410445"/>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Primary Objective</a:t>
            </a:r>
            <a:endParaRPr/>
          </a:p>
        </p:txBody>
      </p:sp>
      <p:sp>
        <p:nvSpPr>
          <p:cNvPr id="131" name="Google Shape;131;p4"/>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132" name="Google Shape;132;p4"/>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sp>
        <p:nvSpPr>
          <p:cNvPr id="133" name="Google Shape;133;p4"/>
          <p:cNvSpPr txBox="1"/>
          <p:nvPr>
            <p:ph idx="1" type="body"/>
          </p:nvPr>
        </p:nvSpPr>
        <p:spPr>
          <a:xfrm>
            <a:off x="1261875" y="1828798"/>
            <a:ext cx="8595300" cy="1201800"/>
          </a:xfrm>
          <a:prstGeom prst="rect">
            <a:avLst/>
          </a:prstGeom>
          <a:noFill/>
          <a:ln>
            <a:noFill/>
          </a:ln>
        </p:spPr>
        <p:txBody>
          <a:bodyPr anchorCtr="0" anchor="t" bIns="45700" lIns="91425" spcFirstLastPara="1" rIns="91425" wrap="square" tIns="45700">
            <a:noAutofit/>
          </a:bodyPr>
          <a:lstStyle/>
          <a:p>
            <a:pPr indent="-250190" lvl="0" marL="182880" rtl="0" algn="l">
              <a:lnSpc>
                <a:spcPct val="75000"/>
              </a:lnSpc>
              <a:spcBef>
                <a:spcPts val="1600"/>
              </a:spcBef>
              <a:spcAft>
                <a:spcPts val="0"/>
              </a:spcAft>
              <a:buSzPts val="2500"/>
              <a:buFont typeface="Noto Sans Symbols"/>
              <a:buChar char="⮚"/>
            </a:pPr>
            <a:r>
              <a:rPr lang="en-US" sz="2500"/>
              <a:t>To design an intelligent system that can accurately detect and recognize multiple shoplifting incidents in real time within shopping malls.</a:t>
            </a:r>
            <a:endParaRPr sz="2500"/>
          </a:p>
          <a:p>
            <a:pPr indent="0" lvl="0" marL="182880" rtl="0" algn="l">
              <a:lnSpc>
                <a:spcPct val="95000"/>
              </a:lnSpc>
              <a:spcBef>
                <a:spcPts val="0"/>
              </a:spcBef>
              <a:spcAft>
                <a:spcPts val="0"/>
              </a:spcAft>
              <a:buNone/>
            </a:pPr>
            <a:r>
              <a:t/>
            </a:r>
            <a:endParaRPr sz="2400"/>
          </a:p>
        </p:txBody>
      </p:sp>
      <p:sp>
        <p:nvSpPr>
          <p:cNvPr id="134" name="Google Shape;134;p4"/>
          <p:cNvSpPr txBox="1"/>
          <p:nvPr/>
        </p:nvSpPr>
        <p:spPr>
          <a:xfrm>
            <a:off x="996401" y="3356184"/>
            <a:ext cx="9692640" cy="662781"/>
          </a:xfrm>
          <a:prstGeom prst="rect">
            <a:avLst/>
          </a:prstGeom>
          <a:noFill/>
          <a:ln>
            <a:noFill/>
          </a:ln>
        </p:spPr>
        <p:txBody>
          <a:bodyPr anchorCtr="0" anchor="b" bIns="45700" lIns="91425" spcFirstLastPara="1" rIns="91425" wrap="square" tIns="45700">
            <a:normAutofit lnSpcReduction="10000"/>
          </a:bodyPr>
          <a:lstStyle/>
          <a:p>
            <a:pPr indent="0" lvl="0" marL="0" marR="0" rtl="0" algn="l">
              <a:lnSpc>
                <a:spcPct val="90000"/>
              </a:lnSpc>
              <a:spcBef>
                <a:spcPts val="0"/>
              </a:spcBef>
              <a:spcAft>
                <a:spcPts val="0"/>
              </a:spcAft>
              <a:buClr>
                <a:schemeClr val="dk1"/>
              </a:buClr>
              <a:buSzPts val="4400"/>
              <a:buFont typeface="Century Schoolbook"/>
              <a:buNone/>
            </a:pPr>
            <a:r>
              <a:rPr lang="en-US" sz="4400">
                <a:solidFill>
                  <a:schemeClr val="dk1"/>
                </a:solidFill>
                <a:latin typeface="Century Schoolbook"/>
                <a:ea typeface="Century Schoolbook"/>
                <a:cs typeface="Century Schoolbook"/>
                <a:sym typeface="Century Schoolbook"/>
              </a:rPr>
              <a:t>Specific Objectives</a:t>
            </a:r>
            <a:endParaRPr/>
          </a:p>
        </p:txBody>
      </p:sp>
      <p:sp>
        <p:nvSpPr>
          <p:cNvPr id="135" name="Google Shape;135;p4"/>
          <p:cNvSpPr txBox="1"/>
          <p:nvPr/>
        </p:nvSpPr>
        <p:spPr>
          <a:xfrm>
            <a:off x="996401" y="4111010"/>
            <a:ext cx="8595360" cy="3292681"/>
          </a:xfrm>
          <a:prstGeom prst="rect">
            <a:avLst/>
          </a:prstGeom>
          <a:noFill/>
          <a:ln>
            <a:noFill/>
          </a:ln>
        </p:spPr>
        <p:txBody>
          <a:bodyPr anchorCtr="0" anchor="t" bIns="45700" lIns="91425" spcFirstLastPara="1" rIns="91425" wrap="square" tIns="45700">
            <a:normAutofit lnSpcReduction="20000"/>
          </a:bodyPr>
          <a:lstStyle/>
          <a:p>
            <a:pPr indent="-355600" lvl="0" marL="457200" rtl="0" algn="l">
              <a:lnSpc>
                <a:spcPct val="95000"/>
              </a:lnSpc>
              <a:spcBef>
                <a:spcPts val="1600"/>
              </a:spcBef>
              <a:spcAft>
                <a:spcPts val="0"/>
              </a:spcAft>
              <a:buClr>
                <a:schemeClr val="dk1"/>
              </a:buClr>
              <a:buSzPts val="2000"/>
              <a:buFont typeface="Century Schoolbook"/>
              <a:buChar char="⮚"/>
            </a:pPr>
            <a:r>
              <a:rPr lang="en-US" sz="2000">
                <a:solidFill>
                  <a:schemeClr val="dk1"/>
                </a:solidFill>
                <a:latin typeface="Century Schoolbook"/>
                <a:ea typeface="Century Schoolbook"/>
                <a:cs typeface="Century Schoolbook"/>
                <a:sym typeface="Century Schoolbook"/>
              </a:rPr>
              <a:t>To create an intelligent model that identifies hiding products in pockets activities in mall surveillance videos.</a:t>
            </a:r>
            <a:br>
              <a:rPr lang="en-US" sz="2000">
                <a:solidFill>
                  <a:schemeClr val="dk1"/>
                </a:solidFill>
                <a:latin typeface="Century Schoolbook"/>
                <a:ea typeface="Century Schoolbook"/>
                <a:cs typeface="Century Schoolbook"/>
                <a:sym typeface="Century Schoolbook"/>
              </a:rPr>
            </a:br>
            <a:endParaRPr sz="2000">
              <a:solidFill>
                <a:schemeClr val="dk1"/>
              </a:solidFill>
              <a:latin typeface="Century Schoolbook"/>
              <a:ea typeface="Century Schoolbook"/>
              <a:cs typeface="Century Schoolbook"/>
              <a:sym typeface="Century Schoolbook"/>
            </a:endParaRPr>
          </a:p>
          <a:p>
            <a:pPr indent="-355600" lvl="0" marL="457200" rtl="0" algn="l">
              <a:lnSpc>
                <a:spcPct val="95000"/>
              </a:lnSpc>
              <a:spcBef>
                <a:spcPts val="0"/>
              </a:spcBef>
              <a:spcAft>
                <a:spcPts val="0"/>
              </a:spcAft>
              <a:buClr>
                <a:schemeClr val="dk1"/>
              </a:buClr>
              <a:buSzPts val="2000"/>
              <a:buFont typeface="Century Schoolbook"/>
              <a:buChar char="⮚"/>
            </a:pPr>
            <a:r>
              <a:rPr lang="en-US" sz="2000">
                <a:solidFill>
                  <a:schemeClr val="dk1"/>
                </a:solidFill>
                <a:latin typeface="Century Schoolbook"/>
                <a:ea typeface="Century Schoolbook"/>
                <a:cs typeface="Century Schoolbook"/>
                <a:sym typeface="Century Schoolbook"/>
              </a:rPr>
              <a:t>To ensure reliable detection even in crowded areas with occlusion and clutter.</a:t>
            </a:r>
            <a:br>
              <a:rPr lang="en-US" sz="2000">
                <a:solidFill>
                  <a:schemeClr val="dk1"/>
                </a:solidFill>
                <a:latin typeface="Century Schoolbook"/>
                <a:ea typeface="Century Schoolbook"/>
                <a:cs typeface="Century Schoolbook"/>
                <a:sym typeface="Century Schoolbook"/>
              </a:rPr>
            </a:br>
            <a:endParaRPr sz="2000">
              <a:solidFill>
                <a:schemeClr val="dk1"/>
              </a:solidFill>
              <a:latin typeface="Century Schoolbook"/>
              <a:ea typeface="Century Schoolbook"/>
              <a:cs typeface="Century Schoolbook"/>
              <a:sym typeface="Century Schoolbook"/>
            </a:endParaRPr>
          </a:p>
          <a:p>
            <a:pPr indent="-355600" lvl="0" marL="457200" rtl="0" algn="l">
              <a:lnSpc>
                <a:spcPct val="95000"/>
              </a:lnSpc>
              <a:spcBef>
                <a:spcPts val="0"/>
              </a:spcBef>
              <a:spcAft>
                <a:spcPts val="0"/>
              </a:spcAft>
              <a:buClr>
                <a:schemeClr val="dk1"/>
              </a:buClr>
              <a:buSzPts val="2000"/>
              <a:buFont typeface="Century Schoolbook"/>
              <a:buChar char="⮚"/>
            </a:pPr>
            <a:r>
              <a:rPr lang="en-US" sz="2000">
                <a:solidFill>
                  <a:schemeClr val="dk1"/>
                </a:solidFill>
                <a:latin typeface="Century Schoolbook"/>
                <a:ea typeface="Century Schoolbook"/>
                <a:cs typeface="Century Schoolbook"/>
                <a:sym typeface="Century Schoolbook"/>
              </a:rPr>
              <a:t>To improve accuracy and performance using a large, diverse shopping mall dataset.</a:t>
            </a:r>
            <a:br>
              <a:rPr lang="en-US" sz="2000">
                <a:solidFill>
                  <a:schemeClr val="dk1"/>
                </a:solidFill>
                <a:latin typeface="Century Schoolbook"/>
                <a:ea typeface="Century Schoolbook"/>
                <a:cs typeface="Century Schoolbook"/>
                <a:sym typeface="Century Schoolbook"/>
              </a:rPr>
            </a:br>
            <a:endParaRPr sz="2000">
              <a:solidFill>
                <a:schemeClr val="dk1"/>
              </a:solidFill>
              <a:latin typeface="Century Schoolbook"/>
              <a:ea typeface="Century Schoolbook"/>
              <a:cs typeface="Century Schoolbook"/>
              <a:sym typeface="Century Schoolbook"/>
            </a:endParaRPr>
          </a:p>
          <a:p>
            <a:pPr indent="-355600" lvl="0" marL="457200" rtl="0" algn="l">
              <a:lnSpc>
                <a:spcPct val="95000"/>
              </a:lnSpc>
              <a:spcBef>
                <a:spcPts val="0"/>
              </a:spcBef>
              <a:spcAft>
                <a:spcPts val="0"/>
              </a:spcAft>
              <a:buClr>
                <a:schemeClr val="dk1"/>
              </a:buClr>
              <a:buSzPts val="2000"/>
              <a:buFont typeface="Century Schoolbook"/>
              <a:buChar char="⮚"/>
            </a:pPr>
            <a:r>
              <a:rPr lang="en-US" sz="2000">
                <a:solidFill>
                  <a:schemeClr val="dk1"/>
                </a:solidFill>
                <a:latin typeface="Century Schoolbook"/>
                <a:ea typeface="Century Schoolbook"/>
                <a:cs typeface="Century Schoolbook"/>
                <a:sym typeface="Century Schoolbook"/>
              </a:rPr>
              <a:t>To generate instant alerts for multiple thefts occurring under a single camera in real time.</a:t>
            </a:r>
            <a:endParaRPr sz="2000">
              <a:solidFill>
                <a:schemeClr val="dk1"/>
              </a:solidFill>
              <a:latin typeface="Century Schoolbook"/>
              <a:ea typeface="Century Schoolbook"/>
              <a:cs typeface="Century Schoolbook"/>
              <a:sym typeface="Century Schoolbook"/>
            </a:endParaRPr>
          </a:p>
          <a:p>
            <a:pPr indent="-208280" lvl="0" marL="182880" marR="0" rtl="0" algn="l">
              <a:lnSpc>
                <a:spcPct val="95000"/>
              </a:lnSpc>
              <a:spcBef>
                <a:spcPts val="1600"/>
              </a:spcBef>
              <a:spcAft>
                <a:spcPts val="0"/>
              </a:spcAft>
              <a:buClr>
                <a:schemeClr val="dk1"/>
              </a:buClr>
              <a:buSzPts val="2000"/>
              <a:buFont typeface="Century Schoolbook"/>
              <a:buChar char="⮚"/>
            </a:pPr>
            <a:r>
              <a:t/>
            </a:r>
            <a:endParaRPr sz="20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229750" y="287575"/>
            <a:ext cx="7611300" cy="6672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entury Schoolbook"/>
              <a:buNone/>
            </a:pPr>
            <a:r>
              <a:rPr lang="en-US"/>
              <a:t>Use-Case Diagram</a:t>
            </a:r>
            <a:endParaRPr/>
          </a:p>
        </p:txBody>
      </p:sp>
      <p:sp>
        <p:nvSpPr>
          <p:cNvPr id="141" name="Google Shape;141;p7"/>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142" name="Google Shape;142;p7"/>
          <p:cNvPicPr preferRelativeResize="0"/>
          <p:nvPr/>
        </p:nvPicPr>
        <p:blipFill rotWithShape="1">
          <a:blip r:embed="rId3">
            <a:alphaModFix/>
          </a:blip>
          <a:srcRect b="0" l="0" r="0" t="0"/>
          <a:stretch/>
        </p:blipFill>
        <p:spPr>
          <a:xfrm>
            <a:off x="9845557" y="124797"/>
            <a:ext cx="1187809" cy="1187809"/>
          </a:xfrm>
          <a:prstGeom prst="rect">
            <a:avLst/>
          </a:prstGeom>
          <a:noFill/>
          <a:ln>
            <a:noFill/>
          </a:ln>
        </p:spPr>
      </p:pic>
      <p:pic>
        <p:nvPicPr>
          <p:cNvPr id="143" name="Google Shape;143;p7"/>
          <p:cNvPicPr preferRelativeResize="0"/>
          <p:nvPr/>
        </p:nvPicPr>
        <p:blipFill>
          <a:blip r:embed="rId4">
            <a:alphaModFix/>
          </a:blip>
          <a:stretch>
            <a:fillRect/>
          </a:stretch>
        </p:blipFill>
        <p:spPr>
          <a:xfrm>
            <a:off x="152400" y="1078025"/>
            <a:ext cx="10183049" cy="5455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236369" y="135225"/>
            <a:ext cx="6854400" cy="4989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Century Schoolbook"/>
              <a:buNone/>
            </a:pPr>
            <a:r>
              <a:rPr lang="en-US" sz="3000"/>
              <a:t>System Architecture Diagram</a:t>
            </a:r>
            <a:endParaRPr sz="3000"/>
          </a:p>
        </p:txBody>
      </p:sp>
      <p:sp>
        <p:nvSpPr>
          <p:cNvPr id="149" name="Google Shape;149;p9"/>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150" name="Google Shape;150;p9"/>
          <p:cNvPicPr preferRelativeResize="0"/>
          <p:nvPr/>
        </p:nvPicPr>
        <p:blipFill rotWithShape="1">
          <a:blip r:embed="rId3">
            <a:alphaModFix/>
          </a:blip>
          <a:srcRect b="0" l="0" r="0" t="0"/>
          <a:stretch/>
        </p:blipFill>
        <p:spPr>
          <a:xfrm>
            <a:off x="10300928" y="181962"/>
            <a:ext cx="865173" cy="865173"/>
          </a:xfrm>
          <a:prstGeom prst="rect">
            <a:avLst/>
          </a:prstGeom>
          <a:noFill/>
          <a:ln>
            <a:noFill/>
          </a:ln>
        </p:spPr>
      </p:pic>
      <p:pic>
        <p:nvPicPr>
          <p:cNvPr id="151" name="Google Shape;151;p9"/>
          <p:cNvPicPr preferRelativeResize="0"/>
          <p:nvPr/>
        </p:nvPicPr>
        <p:blipFill>
          <a:blip r:embed="rId4">
            <a:alphaModFix/>
          </a:blip>
          <a:stretch>
            <a:fillRect/>
          </a:stretch>
        </p:blipFill>
        <p:spPr>
          <a:xfrm>
            <a:off x="2673650" y="1097450"/>
            <a:ext cx="7063225" cy="57605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abb7c19287_1_0"/>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Font typeface="Century Schoolbook"/>
              <a:buNone/>
            </a:pPr>
            <a:r>
              <a:rPr lang="en-US"/>
              <a:t>Sequence </a:t>
            </a:r>
            <a:r>
              <a:rPr lang="en-US" sz="3600"/>
              <a:t>Diagram</a:t>
            </a:r>
            <a:endParaRPr sz="4000"/>
          </a:p>
          <a:p>
            <a:pPr indent="0" lvl="0" marL="0" rtl="0" algn="l">
              <a:spcBef>
                <a:spcPts val="0"/>
              </a:spcBef>
              <a:spcAft>
                <a:spcPts val="0"/>
              </a:spcAft>
              <a:buNone/>
            </a:pPr>
            <a:r>
              <a:t/>
            </a:r>
            <a:endParaRPr/>
          </a:p>
        </p:txBody>
      </p:sp>
      <p:sp>
        <p:nvSpPr>
          <p:cNvPr id="158" name="Google Shape;158;g3abb7c19287_1_0"/>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159" name="Google Shape;159;g3abb7c19287_1_0"/>
          <p:cNvPicPr preferRelativeResize="0"/>
          <p:nvPr/>
        </p:nvPicPr>
        <p:blipFill>
          <a:blip r:embed="rId3">
            <a:alphaModFix/>
          </a:blip>
          <a:stretch>
            <a:fillRect/>
          </a:stretch>
        </p:blipFill>
        <p:spPr>
          <a:xfrm>
            <a:off x="1261875" y="1084150"/>
            <a:ext cx="9081301" cy="60482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txBox="1"/>
          <p:nvPr>
            <p:ph type="title"/>
          </p:nvPr>
        </p:nvSpPr>
        <p:spPr>
          <a:xfrm>
            <a:off x="1261877" y="365748"/>
            <a:ext cx="7207500" cy="113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sz="4200"/>
              <a:t>Methodology</a:t>
            </a:r>
            <a:endParaRPr sz="4200"/>
          </a:p>
        </p:txBody>
      </p:sp>
      <p:sp>
        <p:nvSpPr>
          <p:cNvPr id="165" name="Google Shape;165;p5"/>
          <p:cNvSpPr txBox="1"/>
          <p:nvPr>
            <p:ph idx="1" type="body"/>
          </p:nvPr>
        </p:nvSpPr>
        <p:spPr>
          <a:xfrm>
            <a:off x="1261871" y="1312606"/>
            <a:ext cx="9061999" cy="5179634"/>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1200"/>
              </a:spcBef>
              <a:spcAft>
                <a:spcPts val="0"/>
              </a:spcAft>
              <a:buNone/>
            </a:pPr>
            <a:r>
              <a:t/>
            </a:r>
            <a:endParaRPr sz="2917"/>
          </a:p>
          <a:p>
            <a:pPr indent="-248920" lvl="0" marL="182880" rtl="0" algn="l">
              <a:lnSpc>
                <a:spcPct val="115000"/>
              </a:lnSpc>
              <a:spcBef>
                <a:spcPts val="1200"/>
              </a:spcBef>
              <a:spcAft>
                <a:spcPts val="0"/>
              </a:spcAft>
              <a:buSzPct val="100000"/>
              <a:buFont typeface="Century Schoolbook"/>
              <a:buChar char="●"/>
            </a:pPr>
            <a:r>
              <a:rPr lang="en-US" sz="2917"/>
              <a:t>Dataset Collection</a:t>
            </a:r>
            <a:endParaRPr sz="2917"/>
          </a:p>
          <a:p>
            <a:pPr indent="-386080" lvl="0" marL="457200" rtl="0" algn="l">
              <a:lnSpc>
                <a:spcPct val="115000"/>
              </a:lnSpc>
              <a:spcBef>
                <a:spcPts val="0"/>
              </a:spcBef>
              <a:spcAft>
                <a:spcPts val="0"/>
              </a:spcAft>
              <a:buSzPct val="100000"/>
              <a:buFont typeface="Century Schoolbook"/>
              <a:buChar char="●"/>
            </a:pPr>
            <a:r>
              <a:rPr lang="en-US" sz="2917"/>
              <a:t>8 Persons</a:t>
            </a:r>
            <a:endParaRPr sz="2917"/>
          </a:p>
          <a:p>
            <a:pPr indent="-386080" lvl="0" marL="457200" rtl="0" algn="l">
              <a:lnSpc>
                <a:spcPct val="115000"/>
              </a:lnSpc>
              <a:spcBef>
                <a:spcPts val="0"/>
              </a:spcBef>
              <a:spcAft>
                <a:spcPts val="0"/>
              </a:spcAft>
              <a:buSzPct val="100000"/>
              <a:buFont typeface="Century Schoolbook"/>
              <a:buChar char="●"/>
            </a:pPr>
            <a:r>
              <a:rPr lang="en-US" sz="2917"/>
              <a:t>Different Angles (per scene)</a:t>
            </a:r>
            <a:endParaRPr sz="2917"/>
          </a:p>
          <a:p>
            <a:pPr indent="-386080" lvl="0" marL="457200" rtl="0" algn="l">
              <a:lnSpc>
                <a:spcPct val="115000"/>
              </a:lnSpc>
              <a:spcBef>
                <a:spcPts val="0"/>
              </a:spcBef>
              <a:spcAft>
                <a:spcPts val="0"/>
              </a:spcAft>
              <a:buSzPct val="100000"/>
              <a:buFont typeface="Century Schoolbook"/>
              <a:buChar char="●"/>
            </a:pPr>
            <a:r>
              <a:rPr lang="en-US" sz="2917"/>
              <a:t>Distance variations</a:t>
            </a:r>
            <a:endParaRPr sz="2917"/>
          </a:p>
          <a:p>
            <a:pPr indent="-386080" lvl="0" marL="457200" rtl="0" algn="l">
              <a:lnSpc>
                <a:spcPct val="115000"/>
              </a:lnSpc>
              <a:spcBef>
                <a:spcPts val="0"/>
              </a:spcBef>
              <a:spcAft>
                <a:spcPts val="0"/>
              </a:spcAft>
              <a:buSzPct val="100000"/>
              <a:buFont typeface="Century Schoolbook"/>
              <a:buChar char="●"/>
            </a:pPr>
            <a:r>
              <a:rPr lang="en-US" sz="2917"/>
              <a:t>Lighting</a:t>
            </a:r>
            <a:endParaRPr sz="2917"/>
          </a:p>
          <a:p>
            <a:pPr indent="-386080" lvl="0" marL="457200" rtl="0" algn="l">
              <a:lnSpc>
                <a:spcPct val="115000"/>
              </a:lnSpc>
              <a:spcBef>
                <a:spcPts val="0"/>
              </a:spcBef>
              <a:spcAft>
                <a:spcPts val="0"/>
              </a:spcAft>
              <a:buSzPct val="100000"/>
              <a:buFont typeface="Century Schoolbook"/>
              <a:buChar char="●"/>
            </a:pPr>
            <a:r>
              <a:rPr lang="en-US" sz="2917"/>
              <a:t>Poses / actions</a:t>
            </a:r>
            <a:endParaRPr sz="2917"/>
          </a:p>
          <a:p>
            <a:pPr indent="-386080" lvl="0" marL="457200" rtl="0" algn="l">
              <a:lnSpc>
                <a:spcPct val="115000"/>
              </a:lnSpc>
              <a:spcBef>
                <a:spcPts val="0"/>
              </a:spcBef>
              <a:spcAft>
                <a:spcPts val="0"/>
              </a:spcAft>
              <a:buSzPct val="100000"/>
              <a:buFont typeface="Century Schoolbook"/>
              <a:buChar char="●"/>
            </a:pPr>
            <a:r>
              <a:rPr lang="en-US" sz="2917"/>
              <a:t>Clothing variations</a:t>
            </a:r>
            <a:endParaRPr sz="2917"/>
          </a:p>
          <a:p>
            <a:pPr indent="0" lvl="0" marL="457200" rtl="0" algn="l">
              <a:lnSpc>
                <a:spcPct val="115000"/>
              </a:lnSpc>
              <a:spcBef>
                <a:spcPts val="1200"/>
              </a:spcBef>
              <a:spcAft>
                <a:spcPts val="0"/>
              </a:spcAft>
              <a:buNone/>
            </a:pPr>
            <a:r>
              <a:t/>
            </a:r>
            <a:endParaRPr sz="2700"/>
          </a:p>
          <a:p>
            <a:pPr indent="0" lvl="0" marL="0" rtl="0" algn="l">
              <a:lnSpc>
                <a:spcPct val="250000"/>
              </a:lnSpc>
              <a:spcBef>
                <a:spcPts val="1600"/>
              </a:spcBef>
              <a:spcAft>
                <a:spcPts val="0"/>
              </a:spcAft>
              <a:buNone/>
            </a:pPr>
            <a:r>
              <a:t/>
            </a:r>
            <a:endParaRPr sz="2700"/>
          </a:p>
          <a:p>
            <a:pPr indent="-138683" lvl="0" marL="182880" rtl="0" algn="l">
              <a:lnSpc>
                <a:spcPct val="250000"/>
              </a:lnSpc>
              <a:spcBef>
                <a:spcPts val="1600"/>
              </a:spcBef>
              <a:spcAft>
                <a:spcPts val="0"/>
              </a:spcAft>
              <a:buSzPct val="79999"/>
              <a:buChar char="●"/>
            </a:pPr>
            <a:r>
              <a:t/>
            </a:r>
            <a:endParaRPr/>
          </a:p>
        </p:txBody>
      </p:sp>
      <p:sp>
        <p:nvSpPr>
          <p:cNvPr id="166" name="Google Shape;166;p5"/>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acc0a7022e_1_0"/>
          <p:cNvSpPr txBox="1"/>
          <p:nvPr>
            <p:ph type="title"/>
          </p:nvPr>
        </p:nvSpPr>
        <p:spPr>
          <a:xfrm>
            <a:off x="988100" y="801325"/>
            <a:ext cx="8804100" cy="749100"/>
          </a:xfrm>
          <a:prstGeom prst="rect">
            <a:avLst/>
          </a:prstGeom>
          <a:noFill/>
          <a:ln>
            <a:noFill/>
          </a:ln>
        </p:spPr>
        <p:txBody>
          <a:bodyPr anchorCtr="0" anchor="b" bIns="45700" lIns="91425" spcFirstLastPara="1" rIns="91425" wrap="square" tIns="45700">
            <a:noAutofit/>
          </a:bodyPr>
          <a:lstStyle/>
          <a:p>
            <a:pPr indent="-281940" lvl="0" marL="182880" rtl="0" algn="l">
              <a:lnSpc>
                <a:spcPct val="115000"/>
              </a:lnSpc>
              <a:spcBef>
                <a:spcPts val="1200"/>
              </a:spcBef>
              <a:spcAft>
                <a:spcPts val="0"/>
              </a:spcAft>
              <a:buClr>
                <a:schemeClr val="accent1"/>
              </a:buClr>
              <a:buSzPts val="3000"/>
              <a:buFont typeface="Noto Sans Symbols"/>
              <a:buChar char="⮚"/>
            </a:pPr>
            <a:r>
              <a:rPr lang="en-US" sz="3000"/>
              <a:t>Pre-Processing</a:t>
            </a:r>
            <a:endParaRPr/>
          </a:p>
        </p:txBody>
      </p:sp>
      <p:sp>
        <p:nvSpPr>
          <p:cNvPr id="172" name="Google Shape;172;g3acc0a7022e_1_0"/>
          <p:cNvSpPr txBox="1"/>
          <p:nvPr>
            <p:ph idx="12" type="sldNum"/>
          </p:nvPr>
        </p:nvSpPr>
        <p:spPr>
          <a:xfrm>
            <a:off x="11292840" y="6172200"/>
            <a:ext cx="914400" cy="593700"/>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173" name="Google Shape;173;g3acc0a7022e_1_0"/>
          <p:cNvPicPr preferRelativeResize="0"/>
          <p:nvPr/>
        </p:nvPicPr>
        <p:blipFill rotWithShape="1">
          <a:blip r:embed="rId3">
            <a:alphaModFix/>
          </a:blip>
          <a:srcRect b="0" l="0" r="0" t="0"/>
          <a:stretch/>
        </p:blipFill>
        <p:spPr>
          <a:xfrm>
            <a:off x="10300928" y="181962"/>
            <a:ext cx="865173" cy="865173"/>
          </a:xfrm>
          <a:prstGeom prst="rect">
            <a:avLst/>
          </a:prstGeom>
          <a:noFill/>
          <a:ln>
            <a:noFill/>
          </a:ln>
        </p:spPr>
      </p:pic>
      <p:sp>
        <p:nvSpPr>
          <p:cNvPr id="174" name="Google Shape;174;g3acc0a7022e_1_0"/>
          <p:cNvSpPr txBox="1"/>
          <p:nvPr/>
        </p:nvSpPr>
        <p:spPr>
          <a:xfrm>
            <a:off x="914400" y="1756675"/>
            <a:ext cx="9160200" cy="4339200"/>
          </a:xfrm>
          <a:prstGeom prst="rect">
            <a:avLst/>
          </a:prstGeom>
          <a:noFill/>
          <a:ln>
            <a:noFill/>
          </a:ln>
        </p:spPr>
        <p:txBody>
          <a:bodyPr anchorCtr="0" anchor="t" bIns="45700" lIns="91425" spcFirstLastPara="1" rIns="91425" wrap="square" tIns="45700">
            <a:spAutoFit/>
          </a:bodyPr>
          <a:lstStyle/>
          <a:p>
            <a:pPr indent="-419100" lvl="0" marL="457200" rtl="0" algn="l">
              <a:lnSpc>
                <a:spcPct val="115000"/>
              </a:lnSpc>
              <a:spcBef>
                <a:spcPts val="1200"/>
              </a:spcBef>
              <a:spcAft>
                <a:spcPts val="0"/>
              </a:spcAft>
              <a:buClr>
                <a:schemeClr val="accent1"/>
              </a:buClr>
              <a:buSzPts val="3000"/>
              <a:buChar char="●"/>
            </a:pPr>
            <a:r>
              <a:rPr lang="en-US" sz="3000">
                <a:solidFill>
                  <a:schemeClr val="dk1"/>
                </a:solidFill>
                <a:latin typeface="Century Schoolbook"/>
                <a:ea typeface="Century Schoolbook"/>
                <a:cs typeface="Century Schoolbook"/>
                <a:sym typeface="Century Schoolbook"/>
              </a:rPr>
              <a:t>Raw data to clips(hiding/normal)</a:t>
            </a:r>
            <a:endParaRPr sz="3000">
              <a:solidFill>
                <a:schemeClr val="dk1"/>
              </a:solidFill>
              <a:latin typeface="Century Schoolbook"/>
              <a:ea typeface="Century Schoolbook"/>
              <a:cs typeface="Century Schoolbook"/>
              <a:sym typeface="Century Schoolbook"/>
            </a:endParaRPr>
          </a:p>
          <a:p>
            <a:pPr indent="-419100" lvl="0" marL="457200" rtl="0" algn="l">
              <a:lnSpc>
                <a:spcPct val="115000"/>
              </a:lnSpc>
              <a:spcBef>
                <a:spcPts val="0"/>
              </a:spcBef>
              <a:spcAft>
                <a:spcPts val="0"/>
              </a:spcAft>
              <a:buClr>
                <a:schemeClr val="accent1"/>
              </a:buClr>
              <a:buSzPts val="3000"/>
              <a:buChar char="●"/>
            </a:pPr>
            <a:r>
              <a:rPr lang="en-US" sz="3000">
                <a:solidFill>
                  <a:schemeClr val="dk1"/>
                </a:solidFill>
                <a:latin typeface="Century Schoolbook"/>
                <a:ea typeface="Century Schoolbook"/>
                <a:cs typeface="Century Schoolbook"/>
                <a:sym typeface="Century Schoolbook"/>
              </a:rPr>
              <a:t>Frames extraction from each clip</a:t>
            </a:r>
            <a:endParaRPr sz="3000">
              <a:solidFill>
                <a:schemeClr val="dk1"/>
              </a:solidFill>
              <a:latin typeface="Century Schoolbook"/>
              <a:ea typeface="Century Schoolbook"/>
              <a:cs typeface="Century Schoolbook"/>
              <a:sym typeface="Century Schoolbook"/>
            </a:endParaRPr>
          </a:p>
          <a:p>
            <a:pPr indent="-419100" lvl="0" marL="457200" rtl="0" algn="l">
              <a:lnSpc>
                <a:spcPct val="115000"/>
              </a:lnSpc>
              <a:spcBef>
                <a:spcPts val="0"/>
              </a:spcBef>
              <a:spcAft>
                <a:spcPts val="0"/>
              </a:spcAft>
              <a:buClr>
                <a:schemeClr val="accent1"/>
              </a:buClr>
              <a:buSzPts val="3000"/>
              <a:buChar char="●"/>
            </a:pPr>
            <a:r>
              <a:rPr lang="en-US" sz="3000">
                <a:solidFill>
                  <a:schemeClr val="dk1"/>
                </a:solidFill>
                <a:latin typeface="Century Schoolbook"/>
                <a:ea typeface="Century Schoolbook"/>
                <a:cs typeface="Century Schoolbook"/>
                <a:sym typeface="Century Schoolbook"/>
              </a:rPr>
              <a:t>Resizing frames</a:t>
            </a:r>
            <a:endParaRPr sz="3000">
              <a:solidFill>
                <a:schemeClr val="dk1"/>
              </a:solidFill>
              <a:latin typeface="Century Schoolbook"/>
              <a:ea typeface="Century Schoolbook"/>
              <a:cs typeface="Century Schoolbook"/>
              <a:sym typeface="Century Schoolbook"/>
            </a:endParaRPr>
          </a:p>
          <a:p>
            <a:pPr indent="-419100" lvl="0" marL="457200" rtl="0" algn="l">
              <a:lnSpc>
                <a:spcPct val="115000"/>
              </a:lnSpc>
              <a:spcBef>
                <a:spcPts val="0"/>
              </a:spcBef>
              <a:spcAft>
                <a:spcPts val="0"/>
              </a:spcAft>
              <a:buClr>
                <a:schemeClr val="accent1"/>
              </a:buClr>
              <a:buSzPts val="3000"/>
              <a:buChar char="●"/>
            </a:pPr>
            <a:r>
              <a:rPr lang="en-US" sz="3000">
                <a:solidFill>
                  <a:schemeClr val="dk1"/>
                </a:solidFill>
                <a:latin typeface="Century Schoolbook"/>
                <a:ea typeface="Century Schoolbook"/>
                <a:cs typeface="Century Schoolbook"/>
                <a:sym typeface="Century Schoolbook"/>
              </a:rPr>
              <a:t>Labeling</a:t>
            </a:r>
            <a:endParaRPr sz="3000">
              <a:solidFill>
                <a:schemeClr val="dk1"/>
              </a:solidFill>
              <a:latin typeface="Century Schoolbook"/>
              <a:ea typeface="Century Schoolbook"/>
              <a:cs typeface="Century Schoolbook"/>
              <a:sym typeface="Century Schoolbook"/>
            </a:endParaRPr>
          </a:p>
          <a:p>
            <a:pPr indent="-419100" lvl="0" marL="457200" rtl="0" algn="l">
              <a:lnSpc>
                <a:spcPct val="115000"/>
              </a:lnSpc>
              <a:spcBef>
                <a:spcPts val="0"/>
              </a:spcBef>
              <a:spcAft>
                <a:spcPts val="0"/>
              </a:spcAft>
              <a:buClr>
                <a:schemeClr val="accent1"/>
              </a:buClr>
              <a:buSzPts val="3000"/>
              <a:buChar char="●"/>
            </a:pPr>
            <a:r>
              <a:rPr lang="en-US" sz="3000">
                <a:solidFill>
                  <a:schemeClr val="dk1"/>
                </a:solidFill>
                <a:latin typeface="Century Schoolbook"/>
                <a:ea typeface="Century Schoolbook"/>
                <a:cs typeface="Century Schoolbook"/>
                <a:sym typeface="Century Schoolbook"/>
              </a:rPr>
              <a:t>Frames cropped for model training</a:t>
            </a:r>
            <a:br>
              <a:rPr lang="en-US" sz="1600">
                <a:solidFill>
                  <a:schemeClr val="dk1"/>
                </a:solidFill>
              </a:rPr>
            </a:br>
            <a:endParaRPr sz="16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marR="0" rtl="0" algn="l">
              <a:spcBef>
                <a:spcPts val="0"/>
              </a:spcBef>
              <a:spcAft>
                <a:spcPts val="0"/>
              </a:spcAft>
              <a:buNone/>
            </a:pPr>
            <a:r>
              <a:t/>
            </a:r>
            <a:endParaRPr b="1" sz="3200">
              <a:solidFill>
                <a:schemeClr val="dk1"/>
              </a:solidFill>
              <a:latin typeface="Century Schoolbook"/>
              <a:ea typeface="Century Schoolbook"/>
              <a:cs typeface="Century Schoolbook"/>
              <a:sym typeface="Century Schoolbook"/>
            </a:endParaRPr>
          </a:p>
          <a:p>
            <a:pPr indent="0" lvl="0" marL="0" marR="0" rtl="0" algn="l">
              <a:spcBef>
                <a:spcPts val="0"/>
              </a:spcBef>
              <a:spcAft>
                <a:spcPts val="0"/>
              </a:spcAft>
              <a:buNone/>
            </a:pPr>
            <a:r>
              <a:t/>
            </a:r>
            <a:endParaRPr b="1" sz="32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ac9a43ad1d_0_0"/>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Preprocessing Pipeline</a:t>
            </a:r>
            <a:endParaRPr/>
          </a:p>
        </p:txBody>
      </p:sp>
      <p:sp>
        <p:nvSpPr>
          <p:cNvPr id="181" name="Google Shape;181;g3ac9a43ad1d_0_0"/>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182" name="Google Shape;182;g3ac9a43ad1d_0_0"/>
          <p:cNvSpPr/>
          <p:nvPr/>
        </p:nvSpPr>
        <p:spPr>
          <a:xfrm>
            <a:off x="1382700" y="1782325"/>
            <a:ext cx="1764000" cy="1191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000">
                <a:latin typeface="Century Schoolbook"/>
                <a:ea typeface="Century Schoolbook"/>
                <a:cs typeface="Century Schoolbook"/>
                <a:sym typeface="Century Schoolbook"/>
              </a:rPr>
              <a:t>RAW VIDEO</a:t>
            </a:r>
            <a:endParaRPr sz="2000">
              <a:latin typeface="Century Schoolbook"/>
              <a:ea typeface="Century Schoolbook"/>
              <a:cs typeface="Century Schoolbook"/>
              <a:sym typeface="Century Schoolbook"/>
            </a:endParaRPr>
          </a:p>
        </p:txBody>
      </p:sp>
      <p:sp>
        <p:nvSpPr>
          <p:cNvPr id="183" name="Google Shape;183;g3ac9a43ad1d_0_0"/>
          <p:cNvSpPr/>
          <p:nvPr/>
        </p:nvSpPr>
        <p:spPr>
          <a:xfrm>
            <a:off x="6865450" y="4137175"/>
            <a:ext cx="1764000" cy="124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000">
                <a:latin typeface="Century Schoolbook"/>
                <a:ea typeface="Century Schoolbook"/>
                <a:cs typeface="Century Schoolbook"/>
                <a:sym typeface="Century Schoolbook"/>
              </a:rPr>
              <a:t>Resize Frames</a:t>
            </a:r>
            <a:endParaRPr sz="2000">
              <a:latin typeface="Century Schoolbook"/>
              <a:ea typeface="Century Schoolbook"/>
              <a:cs typeface="Century Schoolbook"/>
              <a:sym typeface="Century Schoolbook"/>
            </a:endParaRPr>
          </a:p>
        </p:txBody>
      </p:sp>
      <p:sp>
        <p:nvSpPr>
          <p:cNvPr id="184" name="Google Shape;184;g3ac9a43ad1d_0_0"/>
          <p:cNvSpPr/>
          <p:nvPr/>
        </p:nvSpPr>
        <p:spPr>
          <a:xfrm>
            <a:off x="4168950" y="1777450"/>
            <a:ext cx="1570800" cy="124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000">
                <a:latin typeface="Century Schoolbook"/>
                <a:ea typeface="Century Schoolbook"/>
                <a:cs typeface="Century Schoolbook"/>
                <a:sym typeface="Century Schoolbook"/>
              </a:rPr>
              <a:t>Creating Clips(Hide/Normal)</a:t>
            </a:r>
            <a:endParaRPr sz="2000">
              <a:latin typeface="Century Schoolbook"/>
              <a:ea typeface="Century Schoolbook"/>
              <a:cs typeface="Century Schoolbook"/>
              <a:sym typeface="Century Schoolbook"/>
            </a:endParaRPr>
          </a:p>
        </p:txBody>
      </p:sp>
      <p:sp>
        <p:nvSpPr>
          <p:cNvPr id="185" name="Google Shape;185;g3ac9a43ad1d_0_0"/>
          <p:cNvSpPr/>
          <p:nvPr/>
        </p:nvSpPr>
        <p:spPr>
          <a:xfrm>
            <a:off x="4306100" y="4165525"/>
            <a:ext cx="1570800" cy="124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000">
                <a:latin typeface="Century Schoolbook"/>
                <a:ea typeface="Century Schoolbook"/>
                <a:cs typeface="Century Schoolbook"/>
                <a:sym typeface="Century Schoolbook"/>
              </a:rPr>
              <a:t>Labeling</a:t>
            </a:r>
            <a:endParaRPr sz="2000">
              <a:latin typeface="Century Schoolbook"/>
              <a:ea typeface="Century Schoolbook"/>
              <a:cs typeface="Century Schoolbook"/>
              <a:sym typeface="Century Schoolbook"/>
            </a:endParaRPr>
          </a:p>
        </p:txBody>
      </p:sp>
      <p:sp>
        <p:nvSpPr>
          <p:cNvPr id="186" name="Google Shape;186;g3ac9a43ad1d_0_0"/>
          <p:cNvSpPr/>
          <p:nvPr/>
        </p:nvSpPr>
        <p:spPr>
          <a:xfrm>
            <a:off x="1512150" y="4168375"/>
            <a:ext cx="1644300" cy="132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000">
                <a:latin typeface="Century Schoolbook"/>
                <a:ea typeface="Century Schoolbook"/>
                <a:cs typeface="Century Schoolbook"/>
                <a:sym typeface="Century Schoolbook"/>
              </a:rPr>
              <a:t>Cropping Frames</a:t>
            </a:r>
            <a:endParaRPr sz="2000">
              <a:latin typeface="Century Schoolbook"/>
              <a:ea typeface="Century Schoolbook"/>
              <a:cs typeface="Century Schoolbook"/>
              <a:sym typeface="Century Schoolbook"/>
            </a:endParaRPr>
          </a:p>
        </p:txBody>
      </p:sp>
      <p:sp>
        <p:nvSpPr>
          <p:cNvPr id="187" name="Google Shape;187;g3ac9a43ad1d_0_0"/>
          <p:cNvSpPr/>
          <p:nvPr/>
        </p:nvSpPr>
        <p:spPr>
          <a:xfrm>
            <a:off x="6787100" y="1782313"/>
            <a:ext cx="1764000" cy="124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000">
                <a:latin typeface="Century Schoolbook"/>
                <a:ea typeface="Century Schoolbook"/>
                <a:cs typeface="Century Schoolbook"/>
                <a:sym typeface="Century Schoolbook"/>
              </a:rPr>
              <a:t>Frames Extraction	</a:t>
            </a:r>
            <a:endParaRPr sz="2000">
              <a:latin typeface="Century Schoolbook"/>
              <a:ea typeface="Century Schoolbook"/>
              <a:cs typeface="Century Schoolbook"/>
              <a:sym typeface="Century Schoolbook"/>
            </a:endParaRPr>
          </a:p>
        </p:txBody>
      </p:sp>
      <p:sp>
        <p:nvSpPr>
          <p:cNvPr id="188" name="Google Shape;188;g3ac9a43ad1d_0_0"/>
          <p:cNvSpPr/>
          <p:nvPr/>
        </p:nvSpPr>
        <p:spPr>
          <a:xfrm>
            <a:off x="3200625" y="2451850"/>
            <a:ext cx="914400" cy="190800"/>
          </a:xfrm>
          <a:prstGeom prst="rightArrow">
            <a:avLst>
              <a:gd fmla="val 100000" name="adj1"/>
              <a:gd fmla="val 4230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189" name="Google Shape;189;g3ac9a43ad1d_0_0"/>
          <p:cNvSpPr/>
          <p:nvPr/>
        </p:nvSpPr>
        <p:spPr>
          <a:xfrm>
            <a:off x="5819425" y="2410900"/>
            <a:ext cx="914400" cy="272700"/>
          </a:xfrm>
          <a:prstGeom prst="rightArrow">
            <a:avLst>
              <a:gd fmla="val 69209"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190" name="Google Shape;190;g3ac9a43ad1d_0_0"/>
          <p:cNvSpPr/>
          <p:nvPr/>
        </p:nvSpPr>
        <p:spPr>
          <a:xfrm>
            <a:off x="7389200" y="3068450"/>
            <a:ext cx="205500" cy="1030500"/>
          </a:xfrm>
          <a:prstGeom prst="downArrow">
            <a:avLst>
              <a:gd fmla="val 10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191" name="Google Shape;191;g3ac9a43ad1d_0_0"/>
          <p:cNvSpPr/>
          <p:nvPr/>
        </p:nvSpPr>
        <p:spPr>
          <a:xfrm>
            <a:off x="5927175" y="4534675"/>
            <a:ext cx="914400" cy="190800"/>
          </a:xfrm>
          <a:prstGeom prst="leftArrow">
            <a:avLst>
              <a:gd fmla="val 10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192" name="Google Shape;192;g3ac9a43ad1d_0_0"/>
          <p:cNvSpPr/>
          <p:nvPr/>
        </p:nvSpPr>
        <p:spPr>
          <a:xfrm>
            <a:off x="3156450" y="4493725"/>
            <a:ext cx="1101900" cy="272700"/>
          </a:xfrm>
          <a:prstGeom prst="leftArrow">
            <a:avLst>
              <a:gd fmla="val 60535"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pic>
        <p:nvPicPr>
          <p:cNvPr id="193" name="Google Shape;193;g3ac9a43ad1d_0_0"/>
          <p:cNvPicPr preferRelativeResize="0"/>
          <p:nvPr/>
        </p:nvPicPr>
        <p:blipFill>
          <a:blip r:embed="rId3">
            <a:alphaModFix/>
          </a:blip>
          <a:stretch>
            <a:fillRect/>
          </a:stretch>
        </p:blipFill>
        <p:spPr>
          <a:xfrm>
            <a:off x="8200650" y="880275"/>
            <a:ext cx="1644300" cy="1191600"/>
          </a:xfrm>
          <a:prstGeom prst="rect">
            <a:avLst/>
          </a:prstGeom>
          <a:noFill/>
          <a:ln>
            <a:noFill/>
          </a:ln>
        </p:spPr>
      </p:pic>
      <p:pic>
        <p:nvPicPr>
          <p:cNvPr id="194" name="Google Shape;194;g3ac9a43ad1d_0_0"/>
          <p:cNvPicPr preferRelativeResize="0"/>
          <p:nvPr/>
        </p:nvPicPr>
        <p:blipFill>
          <a:blip r:embed="rId4">
            <a:alphaModFix/>
          </a:blip>
          <a:stretch>
            <a:fillRect/>
          </a:stretch>
        </p:blipFill>
        <p:spPr>
          <a:xfrm>
            <a:off x="1261875" y="5291577"/>
            <a:ext cx="676275" cy="1325700"/>
          </a:xfrm>
          <a:prstGeom prst="rect">
            <a:avLst/>
          </a:prstGeom>
          <a:noFill/>
          <a:ln>
            <a:noFill/>
          </a:ln>
        </p:spPr>
      </p:pic>
      <p:pic>
        <p:nvPicPr>
          <p:cNvPr id="195" name="Google Shape;195;g3ac9a43ad1d_0_0"/>
          <p:cNvPicPr preferRelativeResize="0"/>
          <p:nvPr/>
        </p:nvPicPr>
        <p:blipFill>
          <a:blip r:embed="rId5">
            <a:alphaModFix/>
          </a:blip>
          <a:stretch>
            <a:fillRect/>
          </a:stretch>
        </p:blipFill>
        <p:spPr>
          <a:xfrm>
            <a:off x="8362100" y="5073950"/>
            <a:ext cx="1764000" cy="143804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txBox="1"/>
          <p:nvPr>
            <p:ph type="title"/>
          </p:nvPr>
        </p:nvSpPr>
        <p:spPr>
          <a:xfrm>
            <a:off x="914391" y="657750"/>
            <a:ext cx="8877900" cy="7596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entury Schoolbook"/>
              <a:buNone/>
            </a:pPr>
            <a:r>
              <a:rPr lang="en-US" sz="4200"/>
              <a:t>Tool &amp; Models</a:t>
            </a:r>
            <a:endParaRPr sz="4200"/>
          </a:p>
        </p:txBody>
      </p:sp>
      <p:sp>
        <p:nvSpPr>
          <p:cNvPr id="201" name="Google Shape;201;p14"/>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202" name="Google Shape;202;p14"/>
          <p:cNvPicPr preferRelativeResize="0"/>
          <p:nvPr/>
        </p:nvPicPr>
        <p:blipFill rotWithShape="1">
          <a:blip r:embed="rId3">
            <a:alphaModFix/>
          </a:blip>
          <a:srcRect b="0" l="0" r="0" t="0"/>
          <a:stretch/>
        </p:blipFill>
        <p:spPr>
          <a:xfrm>
            <a:off x="10300928" y="181962"/>
            <a:ext cx="865173" cy="865173"/>
          </a:xfrm>
          <a:prstGeom prst="rect">
            <a:avLst/>
          </a:prstGeom>
          <a:noFill/>
          <a:ln>
            <a:noFill/>
          </a:ln>
        </p:spPr>
      </p:pic>
      <p:sp>
        <p:nvSpPr>
          <p:cNvPr id="203" name="Google Shape;203;p14"/>
          <p:cNvSpPr txBox="1"/>
          <p:nvPr/>
        </p:nvSpPr>
        <p:spPr>
          <a:xfrm>
            <a:off x="914400" y="1756675"/>
            <a:ext cx="9160200" cy="5805600"/>
          </a:xfrm>
          <a:prstGeom prst="rect">
            <a:avLst/>
          </a:prstGeom>
          <a:noFill/>
          <a:ln>
            <a:noFill/>
          </a:ln>
        </p:spPr>
        <p:txBody>
          <a:bodyPr anchorCtr="0" anchor="t" bIns="45700" lIns="91425" spcFirstLastPara="1" rIns="91425" wrap="square" tIns="45700">
            <a:spAutoFit/>
          </a:bodyPr>
          <a:lstStyle/>
          <a:p>
            <a:pPr indent="-419100" lvl="0" marL="457200" marR="0" rtl="0" algn="l">
              <a:spcBef>
                <a:spcPts val="0"/>
              </a:spcBef>
              <a:spcAft>
                <a:spcPts val="0"/>
              </a:spcAft>
              <a:buClr>
                <a:schemeClr val="dk1"/>
              </a:buClr>
              <a:buSzPts val="3000"/>
              <a:buFont typeface="Century Schoolbook"/>
              <a:buChar char="❏"/>
            </a:pPr>
            <a:r>
              <a:rPr lang="en-US" sz="3000">
                <a:solidFill>
                  <a:schemeClr val="dk1"/>
                </a:solidFill>
                <a:latin typeface="Century Schoolbook"/>
                <a:ea typeface="Century Schoolbook"/>
                <a:cs typeface="Century Schoolbook"/>
                <a:sym typeface="Century Schoolbook"/>
              </a:rPr>
              <a:t>Mo</a:t>
            </a:r>
            <a:r>
              <a:rPr lang="en-US" sz="3000">
                <a:solidFill>
                  <a:schemeClr val="dk1"/>
                </a:solidFill>
                <a:latin typeface="Century Schoolbook"/>
                <a:ea typeface="Century Schoolbook"/>
                <a:cs typeface="Century Schoolbook"/>
                <a:sym typeface="Century Schoolbook"/>
              </a:rPr>
              <a:t>veNet (Pose Estimation)</a:t>
            </a:r>
            <a:endParaRPr sz="3000">
              <a:solidFill>
                <a:schemeClr val="dk1"/>
              </a:solidFill>
              <a:latin typeface="Century Schoolbook"/>
              <a:ea typeface="Century Schoolbook"/>
              <a:cs typeface="Century Schoolbook"/>
              <a:sym typeface="Century Schoolbook"/>
            </a:endParaRPr>
          </a:p>
          <a:p>
            <a:pPr indent="-419100" lvl="0" marL="457200" marR="0" rtl="0" algn="l">
              <a:spcBef>
                <a:spcPts val="0"/>
              </a:spcBef>
              <a:spcAft>
                <a:spcPts val="0"/>
              </a:spcAft>
              <a:buClr>
                <a:schemeClr val="dk1"/>
              </a:buClr>
              <a:buSzPts val="3000"/>
              <a:buFont typeface="Century Schoolbook"/>
              <a:buChar char="❏"/>
            </a:pPr>
            <a:r>
              <a:rPr lang="en-US" sz="3000">
                <a:solidFill>
                  <a:schemeClr val="dk1"/>
                </a:solidFill>
                <a:latin typeface="Century Schoolbook"/>
                <a:ea typeface="Century Schoolbook"/>
                <a:cs typeface="Century Schoolbook"/>
                <a:sym typeface="Century Schoolbook"/>
              </a:rPr>
              <a:t>LST</a:t>
            </a:r>
            <a:r>
              <a:rPr lang="en-US" sz="3000">
                <a:solidFill>
                  <a:schemeClr val="dk1"/>
                </a:solidFill>
                <a:latin typeface="Century Schoolbook"/>
                <a:ea typeface="Century Schoolbook"/>
                <a:cs typeface="Century Schoolbook"/>
                <a:sym typeface="Century Schoolbook"/>
              </a:rPr>
              <a:t>M (Action Recognition)</a:t>
            </a:r>
            <a:endParaRPr sz="3000">
              <a:solidFill>
                <a:schemeClr val="dk1"/>
              </a:solidFill>
              <a:latin typeface="Century Schoolbook"/>
              <a:ea typeface="Century Schoolbook"/>
              <a:cs typeface="Century Schoolbook"/>
              <a:sym typeface="Century Schoolbook"/>
            </a:endParaRPr>
          </a:p>
          <a:p>
            <a:pPr indent="-419100" lvl="0" marL="457200" marR="0" rtl="0" algn="l">
              <a:spcBef>
                <a:spcPts val="0"/>
              </a:spcBef>
              <a:spcAft>
                <a:spcPts val="0"/>
              </a:spcAft>
              <a:buClr>
                <a:schemeClr val="dk1"/>
              </a:buClr>
              <a:buSzPts val="3000"/>
              <a:buFont typeface="Century Schoolbook"/>
              <a:buChar char="❏"/>
            </a:pPr>
            <a:r>
              <a:rPr lang="en-US" sz="3000">
                <a:solidFill>
                  <a:schemeClr val="dk1"/>
                </a:solidFill>
                <a:latin typeface="Century Schoolbook"/>
                <a:ea typeface="Century Schoolbook"/>
                <a:cs typeface="Century Schoolbook"/>
                <a:sym typeface="Century Schoolbook"/>
              </a:rPr>
              <a:t>Python Tools</a:t>
            </a:r>
            <a:endParaRPr sz="3000">
              <a:solidFill>
                <a:schemeClr val="dk1"/>
              </a:solidFill>
              <a:latin typeface="Century Schoolbook"/>
              <a:ea typeface="Century Schoolbook"/>
              <a:cs typeface="Century Schoolbook"/>
              <a:sym typeface="Century Schoolbook"/>
            </a:endParaRPr>
          </a:p>
          <a:p>
            <a:pPr indent="0" lvl="0" marL="457200" marR="0" rtl="0" algn="l">
              <a:spcBef>
                <a:spcPts val="0"/>
              </a:spcBef>
              <a:spcAft>
                <a:spcPts val="0"/>
              </a:spcAft>
              <a:buNone/>
            </a:pPr>
            <a:r>
              <a:rPr lang="en-US" sz="3000">
                <a:solidFill>
                  <a:schemeClr val="dk1"/>
                </a:solidFill>
                <a:latin typeface="Century Schoolbook"/>
                <a:ea typeface="Century Schoolbook"/>
                <a:cs typeface="Century Schoolbook"/>
                <a:sym typeface="Century Schoolbook"/>
              </a:rPr>
              <a:t>such as: </a:t>
            </a:r>
            <a:endParaRPr sz="3000">
              <a:solidFill>
                <a:schemeClr val="dk1"/>
              </a:solidFill>
              <a:latin typeface="Century Schoolbook"/>
              <a:ea typeface="Century Schoolbook"/>
              <a:cs typeface="Century Schoolbook"/>
              <a:sym typeface="Century Schoolbook"/>
            </a:endParaRPr>
          </a:p>
          <a:p>
            <a:pPr indent="-355600" lvl="0" marL="457200" marR="0" rtl="0" algn="l">
              <a:spcBef>
                <a:spcPts val="0"/>
              </a:spcBef>
              <a:spcAft>
                <a:spcPts val="0"/>
              </a:spcAft>
              <a:buClr>
                <a:schemeClr val="dk1"/>
              </a:buClr>
              <a:buSzPts val="2000"/>
              <a:buChar char="●"/>
            </a:pPr>
            <a:r>
              <a:rPr b="1" lang="en-US" sz="2000">
                <a:solidFill>
                  <a:schemeClr val="dk1"/>
                </a:solidFill>
              </a:rPr>
              <a:t>TensorFlow / TF-Hub</a:t>
            </a:r>
            <a:r>
              <a:rPr lang="en-US" sz="2000">
                <a:solidFill>
                  <a:schemeClr val="dk1"/>
                </a:solidFill>
              </a:rPr>
              <a:t> - MoveNet </a:t>
            </a:r>
            <a:br>
              <a:rPr lang="en-US" sz="2000">
                <a:solidFill>
                  <a:schemeClr val="dk1"/>
                </a:solidFill>
              </a:rPr>
            </a:br>
            <a:endParaRPr sz="2000">
              <a:solidFill>
                <a:schemeClr val="dk1"/>
              </a:solidFill>
            </a:endParaRPr>
          </a:p>
          <a:p>
            <a:pPr indent="-330200" lvl="0" marL="457200" rtl="0" algn="l">
              <a:spcBef>
                <a:spcPts val="0"/>
              </a:spcBef>
              <a:spcAft>
                <a:spcPts val="0"/>
              </a:spcAft>
              <a:buClr>
                <a:schemeClr val="dk1"/>
              </a:buClr>
              <a:buSzPts val="1600"/>
              <a:buChar char="●"/>
            </a:pPr>
            <a:r>
              <a:rPr b="1" lang="en-US" sz="2000">
                <a:solidFill>
                  <a:schemeClr val="dk1"/>
                </a:solidFill>
              </a:rPr>
              <a:t> OpenCV</a:t>
            </a:r>
            <a:r>
              <a:rPr lang="en-US" sz="2000">
                <a:solidFill>
                  <a:schemeClr val="dk1"/>
                </a:solidFill>
              </a:rPr>
              <a:t> - video processing</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30200" lvl="0" marL="457200" rtl="0" algn="l">
              <a:spcBef>
                <a:spcPts val="0"/>
              </a:spcBef>
              <a:spcAft>
                <a:spcPts val="0"/>
              </a:spcAft>
              <a:buClr>
                <a:schemeClr val="dk1"/>
              </a:buClr>
              <a:buSzPts val="1600"/>
              <a:buChar char="●"/>
            </a:pPr>
            <a:r>
              <a:rPr lang="en-US" sz="2000">
                <a:solidFill>
                  <a:schemeClr val="dk1"/>
                </a:solidFill>
              </a:rPr>
              <a:t>NumPy - dataset handling</a:t>
            </a:r>
            <a:br>
              <a:rPr lang="en-US" sz="2000">
                <a:solidFill>
                  <a:schemeClr val="dk1"/>
                </a:solidFill>
              </a:rPr>
            </a:br>
            <a:endParaRPr sz="3000">
              <a:solidFill>
                <a:schemeClr val="dk1"/>
              </a:solidFill>
              <a:latin typeface="Century Schoolbook"/>
              <a:ea typeface="Century Schoolbook"/>
              <a:cs typeface="Century Schoolbook"/>
              <a:sym typeface="Century Schoolbook"/>
            </a:endParaRPr>
          </a:p>
          <a:p>
            <a:pPr indent="-419100" lvl="0" marL="457200" rtl="0" algn="l">
              <a:lnSpc>
                <a:spcPct val="95000"/>
              </a:lnSpc>
              <a:spcBef>
                <a:spcPts val="0"/>
              </a:spcBef>
              <a:spcAft>
                <a:spcPts val="0"/>
              </a:spcAft>
              <a:buClr>
                <a:schemeClr val="accent1"/>
              </a:buClr>
              <a:buSzPts val="3000"/>
              <a:buChar char="❏"/>
            </a:pPr>
            <a:r>
              <a:rPr lang="en-US" sz="3000">
                <a:solidFill>
                  <a:schemeClr val="dk1"/>
                </a:solidFill>
                <a:latin typeface="Century Schoolbook"/>
                <a:ea typeface="Century Schoolbook"/>
                <a:cs typeface="Century Schoolbook"/>
                <a:sym typeface="Century Schoolbook"/>
              </a:rPr>
              <a:t>Google Colab / Jupyter Notebook</a:t>
            </a:r>
            <a:endParaRPr sz="3000">
              <a:solidFill>
                <a:schemeClr val="dk1"/>
              </a:solidFill>
              <a:latin typeface="Century Schoolbook"/>
              <a:ea typeface="Century Schoolbook"/>
              <a:cs typeface="Century Schoolbook"/>
              <a:sym typeface="Century Schoolbook"/>
            </a:endParaRPr>
          </a:p>
          <a:p>
            <a:pPr indent="0" lvl="0" marL="0" rtl="0" algn="l">
              <a:spcBef>
                <a:spcPts val="200"/>
              </a:spcBef>
              <a:spcAft>
                <a:spcPts val="0"/>
              </a:spcAft>
              <a:buNone/>
            </a:pPr>
            <a:r>
              <a:t/>
            </a:r>
            <a:endParaRPr sz="1600">
              <a:solidFill>
                <a:schemeClr val="dk1"/>
              </a:solidFill>
            </a:endParaRPr>
          </a:p>
          <a:p>
            <a:pPr indent="0" lvl="0" marL="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b="1" sz="3200">
              <a:solidFill>
                <a:schemeClr val="dk1"/>
              </a:solidFill>
              <a:latin typeface="Century Schoolbook"/>
              <a:ea typeface="Century Schoolbook"/>
              <a:cs typeface="Century Schoolbook"/>
              <a:sym typeface="Century Schoolbook"/>
            </a:endParaRPr>
          </a:p>
          <a:p>
            <a:pPr indent="0" lvl="0" marL="0" marR="0" rtl="0" algn="l">
              <a:spcBef>
                <a:spcPts val="0"/>
              </a:spcBef>
              <a:spcAft>
                <a:spcPts val="0"/>
              </a:spcAft>
              <a:buNone/>
            </a:pPr>
            <a:r>
              <a:t/>
            </a:r>
            <a:endParaRPr b="1" sz="32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ac9579fdd0_0_0"/>
          <p:cNvSpPr txBox="1"/>
          <p:nvPr>
            <p:ph type="title"/>
          </p:nvPr>
        </p:nvSpPr>
        <p:spPr>
          <a:xfrm>
            <a:off x="914147" y="24481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TRAINING PIPELINE</a:t>
            </a:r>
            <a:endParaRPr/>
          </a:p>
        </p:txBody>
      </p:sp>
      <p:sp>
        <p:nvSpPr>
          <p:cNvPr id="210" name="Google Shape;210;g3ac9579fdd0_0_0"/>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211" name="Google Shape;211;g3ac9579fdd0_0_0"/>
          <p:cNvSpPr/>
          <p:nvPr/>
        </p:nvSpPr>
        <p:spPr>
          <a:xfrm>
            <a:off x="3142213" y="2023025"/>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latin typeface="Century Schoolbook"/>
                <a:ea typeface="Century Schoolbook"/>
                <a:cs typeface="Century Schoolbook"/>
                <a:sym typeface="Century Schoolbook"/>
              </a:rPr>
              <a:t>Cropping     </a:t>
            </a:r>
            <a:endParaRPr sz="1800">
              <a:latin typeface="Century Schoolbook"/>
              <a:ea typeface="Century Schoolbook"/>
              <a:cs typeface="Century Schoolbook"/>
              <a:sym typeface="Century Schoolbook"/>
            </a:endParaRPr>
          </a:p>
          <a:p>
            <a:pPr indent="0" lvl="0" marL="0" rtl="0" algn="ctr">
              <a:spcBef>
                <a:spcPts val="0"/>
              </a:spcBef>
              <a:spcAft>
                <a:spcPts val="0"/>
              </a:spcAft>
              <a:buClr>
                <a:schemeClr val="dk1"/>
              </a:buClr>
              <a:buSzPts val="1100"/>
              <a:buFont typeface="Arial"/>
              <a:buNone/>
            </a:pPr>
            <a:r>
              <a:rPr lang="en-US" sz="1800">
                <a:latin typeface="Century Schoolbook"/>
                <a:ea typeface="Century Schoolbook"/>
                <a:cs typeface="Century Schoolbook"/>
                <a:sym typeface="Century Schoolbook"/>
              </a:rPr>
              <a:t>(focus on person) </a:t>
            </a:r>
            <a:endParaRPr sz="1800">
              <a:latin typeface="Century Schoolbook"/>
              <a:ea typeface="Century Schoolbook"/>
              <a:cs typeface="Century Schoolbook"/>
              <a:sym typeface="Century Schoolbook"/>
            </a:endParaRPr>
          </a:p>
          <a:p>
            <a:pPr indent="0" lvl="0" marL="0" rtl="0" algn="ctr">
              <a:spcBef>
                <a:spcPts val="0"/>
              </a:spcBef>
              <a:spcAft>
                <a:spcPts val="0"/>
              </a:spcAft>
              <a:buNone/>
            </a:pPr>
            <a:r>
              <a:t/>
            </a:r>
            <a:endParaRPr sz="1800">
              <a:latin typeface="Century Schoolbook"/>
              <a:ea typeface="Century Schoolbook"/>
              <a:cs typeface="Century Schoolbook"/>
              <a:sym typeface="Century Schoolbook"/>
            </a:endParaRPr>
          </a:p>
        </p:txBody>
      </p:sp>
      <p:sp>
        <p:nvSpPr>
          <p:cNvPr id="212" name="Google Shape;212;g3ac9579fdd0_0_0"/>
          <p:cNvSpPr/>
          <p:nvPr/>
        </p:nvSpPr>
        <p:spPr>
          <a:xfrm>
            <a:off x="6450050" y="4973450"/>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solidFill>
                  <a:schemeClr val="dk1"/>
                </a:solidFill>
                <a:latin typeface="Century Schoolbook"/>
                <a:ea typeface="Century Schoolbook"/>
                <a:cs typeface="Century Schoolbook"/>
                <a:sym typeface="Century Schoolbook"/>
              </a:rPr>
              <a:t>Sequence Builder   (N frames → 1 sample)</a:t>
            </a:r>
            <a:endParaRPr sz="1800">
              <a:solidFill>
                <a:schemeClr val="dk1"/>
              </a:solidFill>
              <a:latin typeface="Century Schoolbook"/>
              <a:ea typeface="Century Schoolbook"/>
              <a:cs typeface="Century Schoolbook"/>
              <a:sym typeface="Century Schoolbook"/>
            </a:endParaRPr>
          </a:p>
          <a:p>
            <a:pPr indent="0" lvl="0" marL="0" rtl="0" algn="ctr">
              <a:spcBef>
                <a:spcPts val="0"/>
              </a:spcBef>
              <a:spcAft>
                <a:spcPts val="0"/>
              </a:spcAft>
              <a:buClr>
                <a:schemeClr val="dk1"/>
              </a:buClr>
              <a:buSzPts val="1100"/>
              <a:buFont typeface="Arial"/>
              <a:buNone/>
            </a:pPr>
            <a:r>
              <a:t/>
            </a:r>
            <a:endParaRPr>
              <a:solidFill>
                <a:schemeClr val="dk1"/>
              </a:solidFill>
              <a:latin typeface="Century Schoolbook"/>
              <a:ea typeface="Century Schoolbook"/>
              <a:cs typeface="Century Schoolbook"/>
              <a:sym typeface="Century Schoolbook"/>
            </a:endParaRPr>
          </a:p>
        </p:txBody>
      </p:sp>
      <p:sp>
        <p:nvSpPr>
          <p:cNvPr id="213" name="Google Shape;213;g3ac9579fdd0_0_0"/>
          <p:cNvSpPr/>
          <p:nvPr/>
        </p:nvSpPr>
        <p:spPr>
          <a:xfrm>
            <a:off x="6281363" y="2023025"/>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latin typeface="Century Schoolbook"/>
                <a:ea typeface="Century Schoolbook"/>
                <a:cs typeface="Century Schoolbook"/>
                <a:sym typeface="Century Schoolbook"/>
              </a:rPr>
              <a:t> Resize &amp; Normalize    (image preprocessing)</a:t>
            </a:r>
            <a:endParaRPr sz="1800">
              <a:latin typeface="Century Schoolbook"/>
              <a:ea typeface="Century Schoolbook"/>
              <a:cs typeface="Century Schoolbook"/>
              <a:sym typeface="Century Schoolbook"/>
            </a:endParaRPr>
          </a:p>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14" name="Google Shape;214;g3ac9579fdd0_0_0"/>
          <p:cNvSpPr/>
          <p:nvPr/>
        </p:nvSpPr>
        <p:spPr>
          <a:xfrm>
            <a:off x="3569950" y="4973450"/>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latin typeface="Century Schoolbook"/>
                <a:ea typeface="Century Schoolbook"/>
                <a:cs typeface="Century Schoolbook"/>
                <a:sym typeface="Century Schoolbook"/>
              </a:rPr>
              <a:t>LSTM           Train (Theft/Action        Recognition)</a:t>
            </a:r>
            <a:endParaRPr sz="1800">
              <a:latin typeface="Century Schoolbook"/>
              <a:ea typeface="Century Schoolbook"/>
              <a:cs typeface="Century Schoolbook"/>
              <a:sym typeface="Century Schoolbook"/>
            </a:endParaRPr>
          </a:p>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15" name="Google Shape;215;g3ac9579fdd0_0_0"/>
          <p:cNvSpPr/>
          <p:nvPr/>
        </p:nvSpPr>
        <p:spPr>
          <a:xfrm>
            <a:off x="9349925" y="2023025"/>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latin typeface="Century Schoolbook"/>
                <a:ea typeface="Century Schoolbook"/>
                <a:cs typeface="Century Schoolbook"/>
                <a:sym typeface="Century Schoolbook"/>
              </a:rPr>
              <a:t>MoveNet Model      Pose Estimation (17/33 KP)</a:t>
            </a:r>
            <a:endParaRPr sz="1800">
              <a:latin typeface="Century Schoolbook"/>
              <a:ea typeface="Century Schoolbook"/>
              <a:cs typeface="Century Schoolbook"/>
              <a:sym typeface="Century Schoolbook"/>
            </a:endParaRPr>
          </a:p>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16" name="Google Shape;216;g3ac9579fdd0_0_0"/>
          <p:cNvSpPr/>
          <p:nvPr/>
        </p:nvSpPr>
        <p:spPr>
          <a:xfrm>
            <a:off x="9307250" y="4973450"/>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Century Schoolbook"/>
                <a:ea typeface="Century Schoolbook"/>
                <a:cs typeface="Century Schoolbook"/>
                <a:sym typeface="Century Schoolbook"/>
              </a:rPr>
              <a:t>JSON/CSV Keypoints    (per-frame data)</a:t>
            </a:r>
            <a:endParaRPr sz="1800">
              <a:latin typeface="Century Schoolbook"/>
              <a:ea typeface="Century Schoolbook"/>
              <a:cs typeface="Century Schoolbook"/>
              <a:sym typeface="Century Schoolbook"/>
            </a:endParaRPr>
          </a:p>
        </p:txBody>
      </p:sp>
      <p:sp>
        <p:nvSpPr>
          <p:cNvPr id="217" name="Google Shape;217;g3ac9579fdd0_0_0"/>
          <p:cNvSpPr/>
          <p:nvPr/>
        </p:nvSpPr>
        <p:spPr>
          <a:xfrm>
            <a:off x="186025" y="2441375"/>
            <a:ext cx="1675200" cy="6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Century Schoolbook"/>
                <a:ea typeface="Century Schoolbook"/>
                <a:cs typeface="Century Schoolbook"/>
                <a:sym typeface="Century Schoolbook"/>
              </a:rPr>
              <a:t>Raw Videos</a:t>
            </a:r>
            <a:endParaRPr sz="1800">
              <a:latin typeface="Century Schoolbook"/>
              <a:ea typeface="Century Schoolbook"/>
              <a:cs typeface="Century Schoolbook"/>
              <a:sym typeface="Century Schoolbook"/>
            </a:endParaRPr>
          </a:p>
        </p:txBody>
      </p:sp>
      <p:sp>
        <p:nvSpPr>
          <p:cNvPr id="218" name="Google Shape;218;g3ac9579fdd0_0_0"/>
          <p:cNvSpPr/>
          <p:nvPr/>
        </p:nvSpPr>
        <p:spPr>
          <a:xfrm>
            <a:off x="1861225" y="2567675"/>
            <a:ext cx="1281000" cy="42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19" name="Google Shape;219;g3ac9579fdd0_0_0"/>
          <p:cNvSpPr/>
          <p:nvPr/>
        </p:nvSpPr>
        <p:spPr>
          <a:xfrm>
            <a:off x="4820712" y="2567675"/>
            <a:ext cx="1457400" cy="42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20" name="Google Shape;220;g3ac9579fdd0_0_0"/>
          <p:cNvSpPr/>
          <p:nvPr/>
        </p:nvSpPr>
        <p:spPr>
          <a:xfrm rot="10800000">
            <a:off x="8125250" y="5597000"/>
            <a:ext cx="1182000" cy="42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21" name="Google Shape;221;g3ac9579fdd0_0_0"/>
          <p:cNvSpPr/>
          <p:nvPr/>
        </p:nvSpPr>
        <p:spPr>
          <a:xfrm>
            <a:off x="7956575" y="2646575"/>
            <a:ext cx="1386600" cy="42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22" name="Google Shape;222;g3ac9579fdd0_0_0"/>
          <p:cNvSpPr/>
          <p:nvPr/>
        </p:nvSpPr>
        <p:spPr>
          <a:xfrm rot="10800000">
            <a:off x="5256595" y="5597170"/>
            <a:ext cx="1182000" cy="427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23" name="Google Shape;223;g3ac9579fdd0_0_0"/>
          <p:cNvSpPr/>
          <p:nvPr/>
        </p:nvSpPr>
        <p:spPr>
          <a:xfrm rot="5398385">
            <a:off x="9506251" y="4142119"/>
            <a:ext cx="1277400" cy="42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ac9579fdd0_0_76"/>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230" name="Google Shape;230;g3ac9579fdd0_0_76"/>
          <p:cNvSpPr txBox="1"/>
          <p:nvPr>
            <p:ph type="title"/>
          </p:nvPr>
        </p:nvSpPr>
        <p:spPr>
          <a:xfrm>
            <a:off x="929247" y="179085"/>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TESTING PIPELINE</a:t>
            </a:r>
            <a:endParaRPr/>
          </a:p>
        </p:txBody>
      </p:sp>
      <p:sp>
        <p:nvSpPr>
          <p:cNvPr id="231" name="Google Shape;231;g3ac9579fdd0_0_76"/>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sp>
        <p:nvSpPr>
          <p:cNvPr id="232" name="Google Shape;232;g3ac9579fdd0_0_76"/>
          <p:cNvSpPr/>
          <p:nvPr/>
        </p:nvSpPr>
        <p:spPr>
          <a:xfrm>
            <a:off x="3142213" y="2023025"/>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solidFill>
                  <a:schemeClr val="dk1"/>
                </a:solidFill>
                <a:latin typeface="Century Schoolbook"/>
                <a:ea typeface="Century Schoolbook"/>
                <a:cs typeface="Century Schoolbook"/>
                <a:sym typeface="Century Schoolbook"/>
              </a:rPr>
              <a:t>YOLO Detector              (Finds Person + B Boxes)</a:t>
            </a:r>
            <a:endParaRPr sz="1800">
              <a:solidFill>
                <a:schemeClr val="dk1"/>
              </a:solidFill>
              <a:latin typeface="Century Schoolbook"/>
              <a:ea typeface="Century Schoolbook"/>
              <a:cs typeface="Century Schoolbook"/>
              <a:sym typeface="Century Schoolbook"/>
            </a:endParaRPr>
          </a:p>
          <a:p>
            <a:pPr indent="0" lvl="0" marL="0" rtl="0" algn="ctr">
              <a:spcBef>
                <a:spcPts val="0"/>
              </a:spcBef>
              <a:spcAft>
                <a:spcPts val="0"/>
              </a:spcAft>
              <a:buNone/>
            </a:pPr>
            <a:r>
              <a:t/>
            </a:r>
            <a:endParaRPr sz="1800">
              <a:latin typeface="Century Schoolbook"/>
              <a:ea typeface="Century Schoolbook"/>
              <a:cs typeface="Century Schoolbook"/>
              <a:sym typeface="Century Schoolbook"/>
            </a:endParaRPr>
          </a:p>
        </p:txBody>
      </p:sp>
      <p:sp>
        <p:nvSpPr>
          <p:cNvPr id="233" name="Google Shape;233;g3ac9579fdd0_0_76"/>
          <p:cNvSpPr/>
          <p:nvPr/>
        </p:nvSpPr>
        <p:spPr>
          <a:xfrm>
            <a:off x="9349925" y="4821650"/>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solidFill>
                  <a:schemeClr val="dk1"/>
                </a:solidFill>
                <a:latin typeface="Century Schoolbook"/>
                <a:ea typeface="Century Schoolbook"/>
                <a:cs typeface="Century Schoolbook"/>
                <a:sym typeface="Century Schoolbook"/>
              </a:rPr>
              <a:t>Keypoint Sequence   (buffer of last N frames)</a:t>
            </a:r>
            <a:endParaRPr sz="1800">
              <a:solidFill>
                <a:schemeClr val="dk1"/>
              </a:solidFill>
              <a:latin typeface="Century Schoolbook"/>
              <a:ea typeface="Century Schoolbook"/>
              <a:cs typeface="Century Schoolbook"/>
              <a:sym typeface="Century Schoolbook"/>
            </a:endParaRPr>
          </a:p>
          <a:p>
            <a:pPr indent="0" lvl="0" marL="0" rtl="0" algn="ctr">
              <a:spcBef>
                <a:spcPts val="0"/>
              </a:spcBef>
              <a:spcAft>
                <a:spcPts val="0"/>
              </a:spcAft>
              <a:buClr>
                <a:schemeClr val="dk1"/>
              </a:buClr>
              <a:buSzPts val="1100"/>
              <a:buFont typeface="Arial"/>
              <a:buNone/>
            </a:pPr>
            <a:r>
              <a:t/>
            </a:r>
            <a:endParaRPr sz="1800">
              <a:solidFill>
                <a:schemeClr val="dk1"/>
              </a:solidFill>
              <a:latin typeface="Century Schoolbook"/>
              <a:ea typeface="Century Schoolbook"/>
              <a:cs typeface="Century Schoolbook"/>
              <a:sym typeface="Century Schoolbook"/>
            </a:endParaRPr>
          </a:p>
          <a:p>
            <a:pPr indent="0" lvl="0" marL="0" rtl="0" algn="ctr">
              <a:spcBef>
                <a:spcPts val="0"/>
              </a:spcBef>
              <a:spcAft>
                <a:spcPts val="0"/>
              </a:spcAft>
              <a:buClr>
                <a:schemeClr val="dk1"/>
              </a:buClr>
              <a:buSzPts val="1100"/>
              <a:buFont typeface="Arial"/>
              <a:buNone/>
            </a:pPr>
            <a:r>
              <a:t/>
            </a:r>
            <a:endParaRPr>
              <a:solidFill>
                <a:schemeClr val="dk1"/>
              </a:solidFill>
              <a:latin typeface="Century Schoolbook"/>
              <a:ea typeface="Century Schoolbook"/>
              <a:cs typeface="Century Schoolbook"/>
              <a:sym typeface="Century Schoolbook"/>
            </a:endParaRPr>
          </a:p>
        </p:txBody>
      </p:sp>
      <p:sp>
        <p:nvSpPr>
          <p:cNvPr id="234" name="Google Shape;234;g3ac9579fdd0_0_76"/>
          <p:cNvSpPr/>
          <p:nvPr/>
        </p:nvSpPr>
        <p:spPr>
          <a:xfrm>
            <a:off x="6281363" y="2023025"/>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solidFill>
                  <a:schemeClr val="dk1"/>
                </a:solidFill>
                <a:latin typeface="Century Schoolbook"/>
                <a:ea typeface="Century Schoolbook"/>
                <a:cs typeface="Century Schoolbook"/>
                <a:sym typeface="Century Schoolbook"/>
              </a:rPr>
              <a:t>Cropped Person Image    (ROI extracted by YOLO)  </a:t>
            </a:r>
            <a:endParaRPr sz="1800">
              <a:solidFill>
                <a:schemeClr val="dk1"/>
              </a:solidFill>
              <a:latin typeface="Century Schoolbook"/>
              <a:ea typeface="Century Schoolbook"/>
              <a:cs typeface="Century Schoolbook"/>
              <a:sym typeface="Century Schoolbook"/>
            </a:endParaRPr>
          </a:p>
          <a:p>
            <a:pPr indent="0" lvl="0" marL="0" rtl="0" algn="ctr">
              <a:spcBef>
                <a:spcPts val="0"/>
              </a:spcBef>
              <a:spcAft>
                <a:spcPts val="0"/>
              </a:spcAft>
              <a:buNone/>
            </a:pPr>
            <a:r>
              <a:t/>
            </a:r>
            <a:endParaRPr sz="1800">
              <a:latin typeface="Century Schoolbook"/>
              <a:ea typeface="Century Schoolbook"/>
              <a:cs typeface="Century Schoolbook"/>
              <a:sym typeface="Century Schoolbook"/>
            </a:endParaRPr>
          </a:p>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35" name="Google Shape;235;g3ac9579fdd0_0_76"/>
          <p:cNvSpPr/>
          <p:nvPr/>
        </p:nvSpPr>
        <p:spPr>
          <a:xfrm>
            <a:off x="6281375" y="4821650"/>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Century Schoolbook"/>
                <a:ea typeface="Century Schoolbook"/>
                <a:cs typeface="Century Schoolbook"/>
                <a:sym typeface="Century Schoolbook"/>
              </a:rPr>
              <a:t>LSTM            Predict: Theft / Normal</a:t>
            </a:r>
            <a:endParaRPr sz="1800">
              <a:solidFill>
                <a:schemeClr val="dk1"/>
              </a:solidFill>
              <a:latin typeface="Century Schoolbook"/>
              <a:ea typeface="Century Schoolbook"/>
              <a:cs typeface="Century Schoolbook"/>
              <a:sym typeface="Century Schoolbook"/>
            </a:endParaRPr>
          </a:p>
          <a:p>
            <a:pPr indent="0" lvl="0" marL="0" rtl="0" algn="ctr">
              <a:spcBef>
                <a:spcPts val="0"/>
              </a:spcBef>
              <a:spcAft>
                <a:spcPts val="0"/>
              </a:spcAft>
              <a:buClr>
                <a:schemeClr val="dk1"/>
              </a:buClr>
              <a:buSzPts val="1100"/>
              <a:buFont typeface="Arial"/>
              <a:buNone/>
            </a:pPr>
            <a:r>
              <a:t/>
            </a:r>
            <a:endParaRPr sz="1800">
              <a:solidFill>
                <a:schemeClr val="dk1"/>
              </a:solidFill>
              <a:latin typeface="Century Schoolbook"/>
              <a:ea typeface="Century Schoolbook"/>
              <a:cs typeface="Century Schoolbook"/>
              <a:sym typeface="Century Schoolbook"/>
            </a:endParaRPr>
          </a:p>
          <a:p>
            <a:pPr indent="0" lvl="0" marL="0" rtl="0" algn="ctr">
              <a:spcBef>
                <a:spcPts val="0"/>
              </a:spcBef>
              <a:spcAft>
                <a:spcPts val="0"/>
              </a:spcAft>
              <a:buNone/>
            </a:pPr>
            <a:r>
              <a:t/>
            </a:r>
            <a:endParaRPr sz="1800">
              <a:latin typeface="Century Schoolbook"/>
              <a:ea typeface="Century Schoolbook"/>
              <a:cs typeface="Century Schoolbook"/>
              <a:sym typeface="Century Schoolbook"/>
            </a:endParaRPr>
          </a:p>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36" name="Google Shape;236;g3ac9579fdd0_0_76"/>
          <p:cNvSpPr/>
          <p:nvPr/>
        </p:nvSpPr>
        <p:spPr>
          <a:xfrm>
            <a:off x="9349925" y="2023025"/>
            <a:ext cx="1675200" cy="167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800">
                <a:solidFill>
                  <a:schemeClr val="dk1"/>
                </a:solidFill>
                <a:latin typeface="Century Schoolbook"/>
                <a:ea typeface="Century Schoolbook"/>
                <a:cs typeface="Century Schoolbook"/>
                <a:sym typeface="Century Schoolbook"/>
              </a:rPr>
              <a:t> MoveNet          Pose Estimation (KP)</a:t>
            </a:r>
            <a:endParaRPr sz="1800">
              <a:solidFill>
                <a:schemeClr val="dk1"/>
              </a:solidFill>
              <a:latin typeface="Century Schoolbook"/>
              <a:ea typeface="Century Schoolbook"/>
              <a:cs typeface="Century Schoolbook"/>
              <a:sym typeface="Century Schoolbook"/>
            </a:endParaRPr>
          </a:p>
          <a:p>
            <a:pPr indent="0" lvl="0" marL="0" rtl="0" algn="ctr">
              <a:spcBef>
                <a:spcPts val="0"/>
              </a:spcBef>
              <a:spcAft>
                <a:spcPts val="0"/>
              </a:spcAft>
              <a:buNone/>
            </a:pPr>
            <a:r>
              <a:t/>
            </a:r>
            <a:endParaRPr sz="1800">
              <a:latin typeface="Century Schoolbook"/>
              <a:ea typeface="Century Schoolbook"/>
              <a:cs typeface="Century Schoolbook"/>
              <a:sym typeface="Century Schoolbook"/>
            </a:endParaRPr>
          </a:p>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37" name="Google Shape;237;g3ac9579fdd0_0_76"/>
          <p:cNvSpPr/>
          <p:nvPr/>
        </p:nvSpPr>
        <p:spPr>
          <a:xfrm>
            <a:off x="186025" y="2257775"/>
            <a:ext cx="1675200" cy="117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Century Schoolbook"/>
                <a:ea typeface="Century Schoolbook"/>
                <a:cs typeface="Century Schoolbook"/>
                <a:sym typeface="Century Schoolbook"/>
              </a:rPr>
              <a:t>Live Video Feed / Test Video</a:t>
            </a:r>
            <a:endParaRPr sz="1800">
              <a:latin typeface="Century Schoolbook"/>
              <a:ea typeface="Century Schoolbook"/>
              <a:cs typeface="Century Schoolbook"/>
              <a:sym typeface="Century Schoolbook"/>
            </a:endParaRPr>
          </a:p>
        </p:txBody>
      </p:sp>
      <p:sp>
        <p:nvSpPr>
          <p:cNvPr id="238" name="Google Shape;238;g3ac9579fdd0_0_76"/>
          <p:cNvSpPr/>
          <p:nvPr/>
        </p:nvSpPr>
        <p:spPr>
          <a:xfrm>
            <a:off x="1861225" y="2567675"/>
            <a:ext cx="1281000" cy="42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39" name="Google Shape;239;g3ac9579fdd0_0_76"/>
          <p:cNvSpPr/>
          <p:nvPr/>
        </p:nvSpPr>
        <p:spPr>
          <a:xfrm>
            <a:off x="4820712" y="2567675"/>
            <a:ext cx="1457400" cy="42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40" name="Google Shape;240;g3ac9579fdd0_0_76"/>
          <p:cNvSpPr/>
          <p:nvPr/>
        </p:nvSpPr>
        <p:spPr>
          <a:xfrm>
            <a:off x="7956575" y="2646575"/>
            <a:ext cx="1386600" cy="428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41" name="Google Shape;241;g3ac9579fdd0_0_76"/>
          <p:cNvSpPr/>
          <p:nvPr/>
        </p:nvSpPr>
        <p:spPr>
          <a:xfrm rot="10800000">
            <a:off x="7953676" y="5445375"/>
            <a:ext cx="1384800" cy="427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42" name="Google Shape;242;g3ac9579fdd0_0_76"/>
          <p:cNvSpPr txBox="1"/>
          <p:nvPr/>
        </p:nvSpPr>
        <p:spPr>
          <a:xfrm>
            <a:off x="5014575" y="1504775"/>
            <a:ext cx="1182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chemeClr val="dk1"/>
                </a:solidFill>
                <a:latin typeface="Century Schoolbook"/>
                <a:ea typeface="Century Schoolbook"/>
                <a:cs typeface="Century Schoolbook"/>
                <a:sym typeface="Century Schoolbook"/>
              </a:rPr>
              <a:t>(crop using YOLO box)</a:t>
            </a:r>
            <a:endParaRPr sz="1800">
              <a:solidFill>
                <a:schemeClr val="dk1"/>
              </a:solidFill>
              <a:latin typeface="Century Schoolbook"/>
              <a:ea typeface="Century Schoolbook"/>
              <a:cs typeface="Century Schoolbook"/>
              <a:sym typeface="Century Schoolbook"/>
            </a:endParaRPr>
          </a:p>
          <a:p>
            <a:pPr indent="0" lvl="0" marL="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243" name="Google Shape;243;g3ac9579fdd0_0_76"/>
          <p:cNvSpPr/>
          <p:nvPr/>
        </p:nvSpPr>
        <p:spPr>
          <a:xfrm rot="5400000">
            <a:off x="9454975" y="4051175"/>
            <a:ext cx="1133700" cy="427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
        <p:nvSpPr>
          <p:cNvPr id="244" name="Google Shape;244;g3ac9579fdd0_0_76"/>
          <p:cNvSpPr/>
          <p:nvPr/>
        </p:nvSpPr>
        <p:spPr>
          <a:xfrm>
            <a:off x="3917700" y="5318925"/>
            <a:ext cx="1675200" cy="6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Century Schoolbook"/>
                <a:ea typeface="Century Schoolbook"/>
                <a:cs typeface="Century Schoolbook"/>
                <a:sym typeface="Century Schoolbook"/>
              </a:rPr>
              <a:t>Generate Alert</a:t>
            </a:r>
            <a:endParaRPr sz="1800">
              <a:latin typeface="Century Schoolbook"/>
              <a:ea typeface="Century Schoolbook"/>
              <a:cs typeface="Century Schoolbook"/>
              <a:sym typeface="Century Schoolbook"/>
            </a:endParaRPr>
          </a:p>
        </p:txBody>
      </p:sp>
      <p:sp>
        <p:nvSpPr>
          <p:cNvPr id="245" name="Google Shape;245;g3ac9579fdd0_0_76"/>
          <p:cNvSpPr/>
          <p:nvPr/>
        </p:nvSpPr>
        <p:spPr>
          <a:xfrm rot="10800000">
            <a:off x="5611500" y="5445375"/>
            <a:ext cx="666600" cy="427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entury Schoolbook"/>
              <a:ea typeface="Century Schoolbook"/>
              <a:cs typeface="Century Schoolbook"/>
              <a:sym typeface="Century Schoolboo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ac9579fdd0_0_103"/>
          <p:cNvSpPr txBox="1"/>
          <p:nvPr>
            <p:ph type="title"/>
          </p:nvPr>
        </p:nvSpPr>
        <p:spPr>
          <a:xfrm>
            <a:off x="371922" y="-71544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3500">
                <a:latin typeface="Arial"/>
                <a:ea typeface="Arial"/>
                <a:cs typeface="Arial"/>
                <a:sym typeface="Arial"/>
              </a:rPr>
              <a:t>MoveNet MultiPose Lightning</a:t>
            </a:r>
            <a:endParaRPr/>
          </a:p>
        </p:txBody>
      </p:sp>
      <p:sp>
        <p:nvSpPr>
          <p:cNvPr id="252" name="Google Shape;252;g3ac9579fdd0_0_103"/>
          <p:cNvSpPr txBox="1"/>
          <p:nvPr>
            <p:ph idx="1" type="body"/>
          </p:nvPr>
        </p:nvSpPr>
        <p:spPr>
          <a:xfrm>
            <a:off x="371925" y="610250"/>
            <a:ext cx="8595300" cy="5215500"/>
          </a:xfrm>
          <a:prstGeom prst="rect">
            <a:avLst/>
          </a:prstGeom>
        </p:spPr>
        <p:txBody>
          <a:bodyPr anchorCtr="0" anchor="t" bIns="45700" lIns="91425" spcFirstLastPara="1" rIns="91425" wrap="square" tIns="45700">
            <a:noAutofit/>
          </a:bodyPr>
          <a:lstStyle/>
          <a:p>
            <a:pPr indent="0" lvl="0" marL="0" rtl="0" algn="l">
              <a:spcBef>
                <a:spcPts val="1400"/>
              </a:spcBef>
              <a:spcAft>
                <a:spcPts val="0"/>
              </a:spcAft>
              <a:buNone/>
            </a:pPr>
            <a:r>
              <a:t/>
            </a:r>
            <a:endParaRPr b="1">
              <a:latin typeface="Arial"/>
              <a:ea typeface="Arial"/>
              <a:cs typeface="Arial"/>
              <a:sym typeface="Arial"/>
            </a:endParaRPr>
          </a:p>
          <a:p>
            <a:pPr indent="0" lvl="0" marL="0" rtl="0" algn="l">
              <a:spcBef>
                <a:spcPts val="1400"/>
              </a:spcBef>
              <a:spcAft>
                <a:spcPts val="0"/>
              </a:spcAft>
              <a:buNone/>
            </a:pPr>
            <a:r>
              <a:rPr lang="en-US" sz="2100"/>
              <a:t>A fast and lightweight </a:t>
            </a:r>
            <a:r>
              <a:rPr b="1" lang="en-US" sz="2100"/>
              <a:t>human pose estimation</a:t>
            </a:r>
            <a:r>
              <a:rPr lang="en-US" sz="2100"/>
              <a:t> model by Google.</a:t>
            </a:r>
            <a:endParaRPr sz="2100"/>
          </a:p>
          <a:p>
            <a:pPr indent="0" lvl="0" marL="0" rtl="0" algn="l">
              <a:lnSpc>
                <a:spcPct val="115000"/>
              </a:lnSpc>
              <a:spcBef>
                <a:spcPts val="1400"/>
              </a:spcBef>
              <a:spcAft>
                <a:spcPts val="0"/>
              </a:spcAft>
              <a:buClr>
                <a:schemeClr val="dk1"/>
              </a:buClr>
              <a:buSzPts val="1100"/>
              <a:buFont typeface="Arial"/>
              <a:buNone/>
            </a:pPr>
            <a:r>
              <a:rPr b="1" lang="en-US" sz="2100"/>
              <a:t>What it does</a:t>
            </a:r>
            <a:endParaRPr b="1" sz="2100"/>
          </a:p>
          <a:p>
            <a:pPr indent="-361950" lvl="0" marL="457200" rtl="0" algn="l">
              <a:lnSpc>
                <a:spcPct val="115000"/>
              </a:lnSpc>
              <a:spcBef>
                <a:spcPts val="1200"/>
              </a:spcBef>
              <a:spcAft>
                <a:spcPts val="0"/>
              </a:spcAft>
              <a:buClr>
                <a:schemeClr val="dk1"/>
              </a:buClr>
              <a:buSzPts val="2100"/>
              <a:buChar char="●"/>
            </a:pPr>
            <a:r>
              <a:rPr lang="en-US" sz="2100"/>
              <a:t>Detects </a:t>
            </a:r>
            <a:r>
              <a:rPr b="1" lang="en-US" sz="2100"/>
              <a:t>17 key body joints</a:t>
            </a:r>
            <a:r>
              <a:rPr lang="en-US" sz="2100"/>
              <a:t> (head, shoulders, elbows, hands, hips, knees, ankles).</a:t>
            </a:r>
            <a:endParaRPr sz="2100"/>
          </a:p>
          <a:p>
            <a:pPr indent="-361950" lvl="0" marL="457200" rtl="0" algn="l">
              <a:lnSpc>
                <a:spcPct val="115000"/>
              </a:lnSpc>
              <a:spcBef>
                <a:spcPts val="0"/>
              </a:spcBef>
              <a:spcAft>
                <a:spcPts val="0"/>
              </a:spcAft>
              <a:buClr>
                <a:schemeClr val="dk1"/>
              </a:buClr>
              <a:buSzPts val="2100"/>
              <a:buFont typeface="Century Schoolbook"/>
              <a:buChar char="●"/>
            </a:pPr>
            <a:r>
              <a:rPr lang="en-US" sz="2100"/>
              <a:t>Enables real-time multi-person pose detection through TensorFlow Hub.</a:t>
            </a:r>
            <a:endParaRPr sz="2100"/>
          </a:p>
          <a:p>
            <a:pPr indent="-361950" lvl="0" marL="457200" rtl="0" algn="l">
              <a:lnSpc>
                <a:spcPct val="115000"/>
              </a:lnSpc>
              <a:spcBef>
                <a:spcPts val="0"/>
              </a:spcBef>
              <a:spcAft>
                <a:spcPts val="0"/>
              </a:spcAft>
              <a:buClr>
                <a:schemeClr val="dk1"/>
              </a:buClr>
              <a:buSzPts val="2100"/>
              <a:buFont typeface="Century Schoolbook"/>
              <a:buChar char="●"/>
            </a:pPr>
            <a:r>
              <a:rPr lang="en-US" sz="2100"/>
              <a:t>Provides keypoint coordinates + confidence scores.</a:t>
            </a:r>
            <a:endParaRPr sz="2100"/>
          </a:p>
          <a:p>
            <a:pPr indent="-361950" lvl="0" marL="457200" rtl="0" algn="l">
              <a:lnSpc>
                <a:spcPct val="115000"/>
              </a:lnSpc>
              <a:spcBef>
                <a:spcPts val="0"/>
              </a:spcBef>
              <a:spcAft>
                <a:spcPts val="0"/>
              </a:spcAft>
              <a:buClr>
                <a:schemeClr val="dk1"/>
              </a:buClr>
              <a:buSzPts val="2100"/>
              <a:buChar char="●"/>
            </a:pPr>
            <a:r>
              <a:rPr b="1" lang="en-US" sz="2100"/>
              <a:t>Real-time performance</a:t>
            </a:r>
            <a:r>
              <a:rPr lang="en-US" sz="2100"/>
              <a:t> (runs on CPU/GPU)</a:t>
            </a:r>
            <a:endParaRPr sz="2100"/>
          </a:p>
          <a:p>
            <a:pPr indent="-361950" lvl="0" marL="457200" rtl="0" algn="l">
              <a:lnSpc>
                <a:spcPct val="115000"/>
              </a:lnSpc>
              <a:spcBef>
                <a:spcPts val="0"/>
              </a:spcBef>
              <a:spcAft>
                <a:spcPts val="0"/>
              </a:spcAft>
              <a:buClr>
                <a:schemeClr val="dk1"/>
              </a:buClr>
              <a:buSzPts val="2100"/>
              <a:buChar char="●"/>
            </a:pPr>
            <a:r>
              <a:rPr lang="en-US" sz="2100"/>
              <a:t>Produces clean keypoints suitable for </a:t>
            </a:r>
            <a:r>
              <a:rPr b="1" lang="en-US" sz="2100"/>
              <a:t>LSTM training</a:t>
            </a:r>
            <a:endParaRPr b="1" sz="2100"/>
          </a:p>
          <a:p>
            <a:pPr indent="0" lvl="0" marL="0" rtl="0" algn="l">
              <a:lnSpc>
                <a:spcPct val="115000"/>
              </a:lnSpc>
              <a:spcBef>
                <a:spcPts val="1400"/>
              </a:spcBef>
              <a:spcAft>
                <a:spcPts val="0"/>
              </a:spcAft>
              <a:buNone/>
            </a:pPr>
            <a:r>
              <a:rPr b="1" lang="en-US" sz="2100"/>
              <a:t>Output Format</a:t>
            </a:r>
            <a:endParaRPr b="1" sz="2100"/>
          </a:p>
          <a:p>
            <a:pPr indent="-361950" lvl="0" marL="457200" rtl="0" algn="l">
              <a:lnSpc>
                <a:spcPct val="115000"/>
              </a:lnSpc>
              <a:spcBef>
                <a:spcPts val="1200"/>
              </a:spcBef>
              <a:spcAft>
                <a:spcPts val="0"/>
              </a:spcAft>
              <a:buClr>
                <a:schemeClr val="dk1"/>
              </a:buClr>
              <a:buSzPts val="2100"/>
              <a:buFont typeface="Century Schoolbook"/>
              <a:buChar char="●"/>
            </a:pPr>
            <a:r>
              <a:rPr lang="en-US" sz="2100"/>
              <a:t>JSON/CSV keypoints per frame → used by LSTM</a:t>
            </a:r>
            <a:endParaRPr sz="2100"/>
          </a:p>
          <a:p>
            <a:pPr indent="0" lvl="0" marL="0" rtl="0" algn="l">
              <a:spcBef>
                <a:spcPts val="1400"/>
              </a:spcBef>
              <a:spcAft>
                <a:spcPts val="0"/>
              </a:spcAft>
              <a:buNone/>
            </a:pPr>
            <a:r>
              <a:t/>
            </a:r>
            <a:endParaRPr/>
          </a:p>
          <a:p>
            <a:pPr indent="-298450" lvl="0" marL="457200" rtl="0" algn="l">
              <a:lnSpc>
                <a:spcPct val="115000"/>
              </a:lnSpc>
              <a:spcBef>
                <a:spcPts val="1200"/>
              </a:spcBef>
              <a:spcAft>
                <a:spcPts val="0"/>
              </a:spcAft>
              <a:buClr>
                <a:schemeClr val="dk1"/>
              </a:buClr>
              <a:buSzPts val="1100"/>
              <a:buFont typeface="Arial"/>
              <a:buChar char="●"/>
            </a:pPr>
            <a:r>
              <a:t/>
            </a:r>
            <a:endParaRPr>
              <a:latin typeface="Arial"/>
              <a:ea typeface="Arial"/>
              <a:cs typeface="Arial"/>
              <a:sym typeface="Arial"/>
            </a:endParaRPr>
          </a:p>
          <a:p>
            <a:pPr indent="0" lvl="0" marL="457200" rtl="0" algn="l">
              <a:lnSpc>
                <a:spcPct val="115000"/>
              </a:lnSpc>
              <a:spcBef>
                <a:spcPts val="1200"/>
              </a:spcBef>
              <a:spcAft>
                <a:spcPts val="0"/>
              </a:spcAft>
              <a:buNone/>
            </a:pPr>
            <a:br>
              <a:rPr lang="en-US">
                <a:latin typeface="Arial"/>
                <a:ea typeface="Arial"/>
                <a:cs typeface="Arial"/>
                <a:sym typeface="Arial"/>
              </a:rPr>
            </a:br>
            <a:endParaRPr>
              <a:latin typeface="Arial"/>
              <a:ea typeface="Arial"/>
              <a:cs typeface="Arial"/>
              <a:sym typeface="Arial"/>
            </a:endParaRPr>
          </a:p>
          <a:p>
            <a:pPr indent="0" lvl="0" marL="0" rtl="0" algn="l">
              <a:spcBef>
                <a:spcPts val="1400"/>
              </a:spcBef>
              <a:spcAft>
                <a:spcPts val="200"/>
              </a:spcAft>
              <a:buNone/>
            </a:pPr>
            <a:r>
              <a:t/>
            </a:r>
            <a:endParaRPr>
              <a:latin typeface="Arial"/>
              <a:ea typeface="Arial"/>
              <a:cs typeface="Arial"/>
              <a:sym typeface="Arial"/>
            </a:endParaRPr>
          </a:p>
        </p:txBody>
      </p:sp>
      <p:sp>
        <p:nvSpPr>
          <p:cNvPr id="253" name="Google Shape;253;g3ac9579fdd0_0_103"/>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acc0a7022e_0_3"/>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3500"/>
              <a:t>MoveNet MultiPose Lightning</a:t>
            </a:r>
            <a:endParaRPr sz="3500"/>
          </a:p>
        </p:txBody>
      </p:sp>
      <p:sp>
        <p:nvSpPr>
          <p:cNvPr id="260" name="Google Shape;260;g3acc0a7022e_0_3"/>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graphicFrame>
        <p:nvGraphicFramePr>
          <p:cNvPr id="261" name="Google Shape;261;g3acc0a7022e_0_3"/>
          <p:cNvGraphicFramePr/>
          <p:nvPr/>
        </p:nvGraphicFramePr>
        <p:xfrm>
          <a:off x="1057200" y="2317888"/>
          <a:ext cx="3000000" cy="3000000"/>
        </p:xfrm>
        <a:graphic>
          <a:graphicData uri="http://schemas.openxmlformats.org/drawingml/2006/table">
            <a:tbl>
              <a:tblPr>
                <a:noFill/>
                <a:tableStyleId>{A59CB92A-BAC5-4D10-B441-06AFE0B364DE}</a:tableStyleId>
              </a:tblPr>
              <a:tblGrid>
                <a:gridCol w="4715975"/>
                <a:gridCol w="4715975"/>
              </a:tblGrid>
              <a:tr h="599700">
                <a:tc>
                  <a:txBody>
                    <a:bodyPr/>
                    <a:lstStyle/>
                    <a:p>
                      <a:pPr indent="0" lvl="0" marL="0" rtl="0" algn="l">
                        <a:spcBef>
                          <a:spcPts val="0"/>
                        </a:spcBef>
                        <a:spcAft>
                          <a:spcPts val="0"/>
                        </a:spcAft>
                        <a:buNone/>
                      </a:pPr>
                      <a:r>
                        <a:rPr b="1" lang="en-US" sz="1800">
                          <a:latin typeface="Century Schoolbook"/>
                          <a:ea typeface="Century Schoolbook"/>
                          <a:cs typeface="Century Schoolbook"/>
                          <a:sym typeface="Century Schoolbook"/>
                        </a:rPr>
                        <a:t>Feature</a:t>
                      </a:r>
                      <a:endParaRPr b="1" sz="1800">
                        <a:latin typeface="Century Schoolbook"/>
                        <a:ea typeface="Century Schoolbook"/>
                        <a:cs typeface="Century Schoolbook"/>
                        <a:sym typeface="Century Schoolbook"/>
                      </a:endParaRPr>
                    </a:p>
                  </a:txBody>
                  <a:tcPr marT="91425" marB="91425" marR="91425" marL="91425"/>
                </a:tc>
                <a:tc>
                  <a:txBody>
                    <a:bodyPr/>
                    <a:lstStyle/>
                    <a:p>
                      <a:pPr indent="0" lvl="0" marL="0" rtl="0" algn="l">
                        <a:spcBef>
                          <a:spcPts val="0"/>
                        </a:spcBef>
                        <a:spcAft>
                          <a:spcPts val="0"/>
                        </a:spcAft>
                        <a:buNone/>
                      </a:pPr>
                      <a:r>
                        <a:rPr b="1" lang="en-US" sz="1800">
                          <a:latin typeface="Century Schoolbook"/>
                          <a:ea typeface="Century Schoolbook"/>
                          <a:cs typeface="Century Schoolbook"/>
                          <a:sym typeface="Century Schoolbook"/>
                        </a:rPr>
                        <a:t>Description</a:t>
                      </a:r>
                      <a:endParaRPr b="1" sz="1800">
                        <a:latin typeface="Century Schoolbook"/>
                        <a:ea typeface="Century Schoolbook"/>
                        <a:cs typeface="Century Schoolbook"/>
                        <a:sym typeface="Century Schoolbook"/>
                      </a:endParaRPr>
                    </a:p>
                  </a:txBody>
                  <a:tcPr marT="91425" marB="91425" marR="91425" marL="91425"/>
                </a:tc>
              </a:tr>
              <a:tr h="602000">
                <a:tc>
                  <a:txBody>
                    <a:bodyPr/>
                    <a:lstStyle/>
                    <a:p>
                      <a:pPr indent="0" lvl="0" marL="0" rtl="0" algn="l">
                        <a:lnSpc>
                          <a:spcPct val="115000"/>
                        </a:lnSpc>
                        <a:spcBef>
                          <a:spcPts val="1200"/>
                        </a:spcBef>
                        <a:spcAft>
                          <a:spcPts val="0"/>
                        </a:spcAft>
                        <a:buClr>
                          <a:schemeClr val="dk1"/>
                        </a:buClr>
                        <a:buSzPts val="1100"/>
                        <a:buFont typeface="Arial"/>
                        <a:buNone/>
                      </a:pPr>
                      <a:r>
                        <a:rPr lang="en-US">
                          <a:latin typeface="Century Schoolbook"/>
                          <a:ea typeface="Century Schoolbook"/>
                          <a:cs typeface="Century Schoolbook"/>
                          <a:sym typeface="Century Schoolbook"/>
                        </a:rPr>
                        <a:t>Model Name</a:t>
                      </a:r>
                      <a:endParaRPr>
                        <a:latin typeface="Century Schoolbook"/>
                        <a:ea typeface="Century Schoolbook"/>
                        <a:cs typeface="Century Schoolbook"/>
                        <a:sym typeface="Century Schoolbook"/>
                      </a:endParaRPr>
                    </a:p>
                    <a:p>
                      <a:pPr indent="0" lvl="0" marL="0" rtl="0" algn="l">
                        <a:spcBef>
                          <a:spcPts val="1200"/>
                        </a:spcBef>
                        <a:spcAft>
                          <a:spcPts val="0"/>
                        </a:spcAft>
                        <a:buNone/>
                      </a:pPr>
                      <a:r>
                        <a:t/>
                      </a:r>
                      <a:endParaRPr>
                        <a:latin typeface="Century Schoolbook"/>
                        <a:ea typeface="Century Schoolbook"/>
                        <a:cs typeface="Century Schoolbook"/>
                        <a:sym typeface="Century Schoolbook"/>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latin typeface="Century Schoolbook"/>
                          <a:ea typeface="Century Schoolbook"/>
                          <a:cs typeface="Century Schoolbook"/>
                          <a:sym typeface="Century Schoolbook"/>
                        </a:rPr>
                        <a:t>MoveNet MultiPose Lightning</a:t>
                      </a:r>
                      <a:endParaRPr>
                        <a:latin typeface="Century Schoolbook"/>
                        <a:ea typeface="Century Schoolbook"/>
                        <a:cs typeface="Century Schoolbook"/>
                        <a:sym typeface="Century Schoolbook"/>
                      </a:endParaRPr>
                    </a:p>
                  </a:txBody>
                  <a:tcPr marT="91425" marB="91425" marR="91425" marL="91425"/>
                </a:tc>
              </a:tr>
              <a:tr h="639750">
                <a:tc>
                  <a:txBody>
                    <a:bodyPr/>
                    <a:lstStyle/>
                    <a:p>
                      <a:pPr indent="0" lvl="0" marL="0" rtl="0" algn="l">
                        <a:spcBef>
                          <a:spcPts val="0"/>
                        </a:spcBef>
                        <a:spcAft>
                          <a:spcPts val="0"/>
                        </a:spcAft>
                        <a:buNone/>
                      </a:pPr>
                      <a:r>
                        <a:rPr lang="en-US">
                          <a:latin typeface="Century Schoolbook"/>
                          <a:ea typeface="Century Schoolbook"/>
                          <a:cs typeface="Century Schoolbook"/>
                          <a:sym typeface="Century Schoolbook"/>
                        </a:rPr>
                        <a:t>Version</a:t>
                      </a:r>
                      <a:endParaRPr>
                        <a:latin typeface="Century Schoolbook"/>
                        <a:ea typeface="Century Schoolbook"/>
                        <a:cs typeface="Century Schoolbook"/>
                        <a:sym typeface="Century Schoolbook"/>
                      </a:endParaRPr>
                    </a:p>
                  </a:txBody>
                  <a:tcPr marT="91425" marB="91425" marR="91425" marL="91425"/>
                </a:tc>
                <a:tc>
                  <a:txBody>
                    <a:bodyPr/>
                    <a:lstStyle/>
                    <a:p>
                      <a:pPr indent="0" lvl="0" marL="0" rtl="0" algn="l">
                        <a:spcBef>
                          <a:spcPts val="0"/>
                        </a:spcBef>
                        <a:spcAft>
                          <a:spcPts val="0"/>
                        </a:spcAft>
                        <a:buNone/>
                      </a:pPr>
                      <a:r>
                        <a:rPr lang="en-US">
                          <a:latin typeface="Century Schoolbook"/>
                          <a:ea typeface="Century Schoolbook"/>
                          <a:cs typeface="Century Schoolbook"/>
                          <a:sym typeface="Century Schoolbook"/>
                        </a:rPr>
                        <a:t>v1</a:t>
                      </a:r>
                      <a:endParaRPr>
                        <a:latin typeface="Century Schoolbook"/>
                        <a:ea typeface="Century Schoolbook"/>
                        <a:cs typeface="Century Schoolbook"/>
                        <a:sym typeface="Century Schoolbook"/>
                      </a:endParaRPr>
                    </a:p>
                  </a:txBody>
                  <a:tcPr marT="91425" marB="91425" marR="91425" marL="91425"/>
                </a:tc>
              </a:tr>
              <a:tr h="727000">
                <a:tc>
                  <a:txBody>
                    <a:bodyPr/>
                    <a:lstStyle/>
                    <a:p>
                      <a:pPr indent="0" lvl="0" marL="0" rtl="0" algn="l">
                        <a:spcBef>
                          <a:spcPts val="0"/>
                        </a:spcBef>
                        <a:spcAft>
                          <a:spcPts val="0"/>
                        </a:spcAft>
                        <a:buNone/>
                      </a:pPr>
                      <a:r>
                        <a:rPr lang="en-US">
                          <a:latin typeface="Century Schoolbook"/>
                          <a:ea typeface="Century Schoolbook"/>
                          <a:cs typeface="Century Schoolbook"/>
                          <a:sym typeface="Century Schoolbook"/>
                        </a:rPr>
                        <a:t>Publisher</a:t>
                      </a:r>
                      <a:endParaRPr>
                        <a:latin typeface="Century Schoolbook"/>
                        <a:ea typeface="Century Schoolbook"/>
                        <a:cs typeface="Century Schoolbook"/>
                        <a:sym typeface="Century Schoolbook"/>
                      </a:endParaRPr>
                    </a:p>
                  </a:txBody>
                  <a:tcPr marT="91425" marB="91425" marR="91425" marL="91425"/>
                </a:tc>
                <a:tc>
                  <a:txBody>
                    <a:bodyPr/>
                    <a:lstStyle/>
                    <a:p>
                      <a:pPr indent="0" lvl="0" marL="0" rtl="0" algn="l">
                        <a:spcBef>
                          <a:spcPts val="0"/>
                        </a:spcBef>
                        <a:spcAft>
                          <a:spcPts val="0"/>
                        </a:spcAft>
                        <a:buNone/>
                      </a:pPr>
                      <a:r>
                        <a:rPr lang="en-US">
                          <a:latin typeface="Century Schoolbook"/>
                          <a:ea typeface="Century Schoolbook"/>
                          <a:cs typeface="Century Schoolbook"/>
                          <a:sym typeface="Century Schoolbook"/>
                        </a:rPr>
                        <a:t>Google / TensorFlow Hub</a:t>
                      </a:r>
                      <a:endParaRPr>
                        <a:latin typeface="Century Schoolbook"/>
                        <a:ea typeface="Century Schoolbook"/>
                        <a:cs typeface="Century Schoolbook"/>
                        <a:sym typeface="Century Schoolbook"/>
                      </a:endParaRPr>
                    </a:p>
                  </a:txBody>
                  <a:tcPr marT="91425" marB="91425" marR="91425" marL="91425"/>
                </a:tc>
              </a:tr>
              <a:tr h="535050">
                <a:tc>
                  <a:txBody>
                    <a:bodyPr/>
                    <a:lstStyle/>
                    <a:p>
                      <a:pPr indent="0" lvl="0" marL="0" rtl="0" algn="l">
                        <a:spcBef>
                          <a:spcPts val="0"/>
                        </a:spcBef>
                        <a:spcAft>
                          <a:spcPts val="0"/>
                        </a:spcAft>
                        <a:buNone/>
                      </a:pPr>
                      <a:r>
                        <a:rPr lang="en-US">
                          <a:latin typeface="Century Schoolbook"/>
                          <a:ea typeface="Century Schoolbook"/>
                          <a:cs typeface="Century Schoolbook"/>
                          <a:sym typeface="Century Schoolbook"/>
                        </a:rPr>
                        <a:t>Task</a:t>
                      </a:r>
                      <a:endParaRPr>
                        <a:latin typeface="Century Schoolbook"/>
                        <a:ea typeface="Century Schoolbook"/>
                        <a:cs typeface="Century Schoolbook"/>
                        <a:sym typeface="Century Schoolbook"/>
                      </a:endParaRPr>
                    </a:p>
                  </a:txBody>
                  <a:tcPr marT="91425" marB="91425" marR="91425" marL="91425"/>
                </a:tc>
                <a:tc>
                  <a:txBody>
                    <a:bodyPr/>
                    <a:lstStyle/>
                    <a:p>
                      <a:pPr indent="0" lvl="0" marL="0" rtl="0" algn="l">
                        <a:spcBef>
                          <a:spcPts val="0"/>
                        </a:spcBef>
                        <a:spcAft>
                          <a:spcPts val="0"/>
                        </a:spcAft>
                        <a:buNone/>
                      </a:pPr>
                      <a:r>
                        <a:rPr lang="en-US">
                          <a:latin typeface="Century Schoolbook"/>
                          <a:ea typeface="Century Schoolbook"/>
                          <a:cs typeface="Century Schoolbook"/>
                          <a:sym typeface="Century Schoolbook"/>
                        </a:rPr>
                        <a:t>Multi-person 2D human pose estimation</a:t>
                      </a:r>
                      <a:endParaRPr>
                        <a:latin typeface="Century Schoolbook"/>
                        <a:ea typeface="Century Schoolbook"/>
                        <a:cs typeface="Century Schoolbook"/>
                        <a:sym typeface="Century Schoolbook"/>
                      </a:endParaRPr>
                    </a:p>
                    <a:p>
                      <a:pPr indent="0" lvl="0" marL="0" rtl="0" algn="l">
                        <a:spcBef>
                          <a:spcPts val="0"/>
                        </a:spcBef>
                        <a:spcAft>
                          <a:spcPts val="0"/>
                        </a:spcAft>
                        <a:buNone/>
                      </a:pPr>
                      <a:r>
                        <a:t/>
                      </a:r>
                      <a:endParaRPr>
                        <a:latin typeface="Century Schoolbook"/>
                        <a:ea typeface="Century Schoolbook"/>
                        <a:cs typeface="Century Schoolbook"/>
                        <a:sym typeface="Century Schoolbook"/>
                      </a:endParaRPr>
                    </a:p>
                    <a:p>
                      <a:pPr indent="0" lvl="0" marL="0" rtl="0" algn="l">
                        <a:spcBef>
                          <a:spcPts val="0"/>
                        </a:spcBef>
                        <a:spcAft>
                          <a:spcPts val="0"/>
                        </a:spcAft>
                        <a:buNone/>
                      </a:pPr>
                      <a:r>
                        <a:t/>
                      </a:r>
                      <a:endParaRPr>
                        <a:latin typeface="Century Schoolbook"/>
                        <a:ea typeface="Century Schoolbook"/>
                        <a:cs typeface="Century Schoolbook"/>
                        <a:sym typeface="Century Schoolbook"/>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acf817c85c_0_20"/>
          <p:cNvSpPr txBox="1"/>
          <p:nvPr>
            <p:ph idx="1" type="body"/>
          </p:nvPr>
        </p:nvSpPr>
        <p:spPr>
          <a:xfrm>
            <a:off x="1132697" y="1691850"/>
            <a:ext cx="8595300" cy="4351200"/>
          </a:xfrm>
          <a:prstGeom prst="rect">
            <a:avLst/>
          </a:prstGeom>
        </p:spPr>
        <p:txBody>
          <a:bodyPr anchorCtr="0" anchor="t" bIns="45700" lIns="91425" spcFirstLastPara="1" rIns="91425" wrap="square" tIns="45700">
            <a:noAutofit/>
          </a:bodyPr>
          <a:lstStyle/>
          <a:p>
            <a:pPr indent="0" lvl="0" marL="0" rtl="0" algn="l">
              <a:spcBef>
                <a:spcPts val="1400"/>
              </a:spcBef>
              <a:spcAft>
                <a:spcPts val="0"/>
              </a:spcAft>
              <a:buClr>
                <a:schemeClr val="dk1"/>
              </a:buClr>
              <a:buSzPts val="1100"/>
              <a:buFont typeface="Arial"/>
              <a:buNone/>
            </a:pPr>
            <a:r>
              <a:rPr lang="en-US" sz="2200"/>
              <a:t>0: nose                                                              </a:t>
            </a:r>
            <a:endParaRPr sz="2200"/>
          </a:p>
          <a:p>
            <a:pPr indent="0" lvl="0" marL="0" rtl="0" algn="l">
              <a:spcBef>
                <a:spcPts val="1400"/>
              </a:spcBef>
              <a:spcAft>
                <a:spcPts val="0"/>
              </a:spcAft>
              <a:buClr>
                <a:schemeClr val="dk1"/>
              </a:buClr>
              <a:buSzPts val="1100"/>
              <a:buFont typeface="Arial"/>
              <a:buNone/>
            </a:pPr>
            <a:r>
              <a:rPr lang="en-US" sz="2200"/>
              <a:t>1: left eye</a:t>
            </a:r>
            <a:endParaRPr sz="2200"/>
          </a:p>
          <a:p>
            <a:pPr indent="0" lvl="0" marL="0" rtl="0" algn="l">
              <a:spcBef>
                <a:spcPts val="1400"/>
              </a:spcBef>
              <a:spcAft>
                <a:spcPts val="0"/>
              </a:spcAft>
              <a:buClr>
                <a:schemeClr val="dk1"/>
              </a:buClr>
              <a:buSzPts val="1100"/>
              <a:buFont typeface="Arial"/>
              <a:buNone/>
            </a:pPr>
            <a:r>
              <a:rPr lang="en-US" sz="2200"/>
              <a:t>2: right eye</a:t>
            </a:r>
            <a:endParaRPr sz="2200"/>
          </a:p>
          <a:p>
            <a:pPr indent="0" lvl="0" marL="0" rtl="0" algn="l">
              <a:spcBef>
                <a:spcPts val="1400"/>
              </a:spcBef>
              <a:spcAft>
                <a:spcPts val="0"/>
              </a:spcAft>
              <a:buClr>
                <a:schemeClr val="dk1"/>
              </a:buClr>
              <a:buSzPts val="1100"/>
              <a:buFont typeface="Arial"/>
              <a:buNone/>
            </a:pPr>
            <a:r>
              <a:rPr lang="en-US" sz="2200"/>
              <a:t>3: left ear</a:t>
            </a:r>
            <a:endParaRPr sz="2200"/>
          </a:p>
          <a:p>
            <a:pPr indent="0" lvl="0" marL="0" rtl="0" algn="l">
              <a:spcBef>
                <a:spcPts val="1400"/>
              </a:spcBef>
              <a:spcAft>
                <a:spcPts val="0"/>
              </a:spcAft>
              <a:buClr>
                <a:schemeClr val="dk1"/>
              </a:buClr>
              <a:buSzPts val="1100"/>
              <a:buFont typeface="Arial"/>
              <a:buNone/>
            </a:pPr>
            <a:r>
              <a:rPr lang="en-US" sz="2200"/>
              <a:t>4: right ear</a:t>
            </a:r>
            <a:endParaRPr sz="2200"/>
          </a:p>
          <a:p>
            <a:pPr indent="0" lvl="0" marL="0" rtl="0" algn="l">
              <a:spcBef>
                <a:spcPts val="1400"/>
              </a:spcBef>
              <a:spcAft>
                <a:spcPts val="0"/>
              </a:spcAft>
              <a:buClr>
                <a:schemeClr val="dk1"/>
              </a:buClr>
              <a:buSzPts val="1100"/>
              <a:buFont typeface="Arial"/>
              <a:buNone/>
            </a:pPr>
            <a:r>
              <a:rPr lang="en-US" sz="2200"/>
              <a:t>5: left shoulder</a:t>
            </a:r>
            <a:endParaRPr sz="2200"/>
          </a:p>
          <a:p>
            <a:pPr indent="0" lvl="0" marL="0" rtl="0" algn="l">
              <a:spcBef>
                <a:spcPts val="1400"/>
              </a:spcBef>
              <a:spcAft>
                <a:spcPts val="0"/>
              </a:spcAft>
              <a:buClr>
                <a:schemeClr val="dk1"/>
              </a:buClr>
              <a:buSzPts val="1100"/>
              <a:buFont typeface="Arial"/>
              <a:buNone/>
            </a:pPr>
            <a:r>
              <a:rPr lang="en-US" sz="2200"/>
              <a:t>6: right shoulder</a:t>
            </a:r>
            <a:endParaRPr sz="2200"/>
          </a:p>
          <a:p>
            <a:pPr indent="0" lvl="0" marL="0" rtl="0" algn="l">
              <a:spcBef>
                <a:spcPts val="1400"/>
              </a:spcBef>
              <a:spcAft>
                <a:spcPts val="0"/>
              </a:spcAft>
              <a:buClr>
                <a:schemeClr val="dk1"/>
              </a:buClr>
              <a:buSzPts val="1100"/>
              <a:buFont typeface="Arial"/>
              <a:buNone/>
            </a:pPr>
            <a:r>
              <a:rPr lang="en-US" sz="2200"/>
              <a:t>7: left elbow</a:t>
            </a:r>
            <a:endParaRPr sz="2200"/>
          </a:p>
          <a:p>
            <a:pPr indent="0" lvl="0" marL="0" rtl="0" algn="l">
              <a:spcBef>
                <a:spcPts val="1400"/>
              </a:spcBef>
              <a:spcAft>
                <a:spcPts val="0"/>
              </a:spcAft>
              <a:buClr>
                <a:schemeClr val="dk1"/>
              </a:buClr>
              <a:buSzPts val="1100"/>
              <a:buFont typeface="Arial"/>
              <a:buNone/>
            </a:pPr>
            <a:r>
              <a:rPr lang="en-US" sz="2200"/>
              <a:t>    </a:t>
            </a:r>
            <a:endParaRPr sz="2200"/>
          </a:p>
          <a:p>
            <a:pPr indent="0" lvl="0" marL="0" rtl="0" algn="l">
              <a:spcBef>
                <a:spcPts val="1400"/>
              </a:spcBef>
              <a:spcAft>
                <a:spcPts val="200"/>
              </a:spcAft>
              <a:buNone/>
            </a:pPr>
            <a:r>
              <a:t/>
            </a:r>
            <a:endParaRPr sz="2200"/>
          </a:p>
        </p:txBody>
      </p:sp>
      <p:sp>
        <p:nvSpPr>
          <p:cNvPr id="268" name="Google Shape;268;g3acf817c85c_0_20"/>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269" name="Google Shape;269;g3acf817c85c_0_20"/>
          <p:cNvSpPr txBox="1"/>
          <p:nvPr/>
        </p:nvSpPr>
        <p:spPr>
          <a:xfrm>
            <a:off x="1132700" y="597325"/>
            <a:ext cx="92991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500">
                <a:solidFill>
                  <a:schemeClr val="dk1"/>
                </a:solidFill>
                <a:latin typeface="Century Schoolbook"/>
                <a:ea typeface="Century Schoolbook"/>
                <a:cs typeface="Century Schoolbook"/>
                <a:sym typeface="Century Schoolbook"/>
              </a:rPr>
              <a:t>KeyPoints Description</a:t>
            </a:r>
            <a:endParaRPr sz="35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acf817c85c_0_28"/>
          <p:cNvSpPr txBox="1"/>
          <p:nvPr>
            <p:ph idx="1" type="body"/>
          </p:nvPr>
        </p:nvSpPr>
        <p:spPr>
          <a:xfrm>
            <a:off x="669925" y="521850"/>
            <a:ext cx="8595300" cy="5814300"/>
          </a:xfrm>
          <a:prstGeom prst="rect">
            <a:avLst/>
          </a:prstGeom>
        </p:spPr>
        <p:txBody>
          <a:bodyPr anchorCtr="0" anchor="t" bIns="45700" lIns="91425" spcFirstLastPara="1" rIns="91425" wrap="square" tIns="45700">
            <a:normAutofit/>
          </a:bodyPr>
          <a:lstStyle/>
          <a:p>
            <a:pPr indent="0" lvl="0" marL="0" rtl="0" algn="l">
              <a:spcBef>
                <a:spcPts val="1400"/>
              </a:spcBef>
              <a:spcAft>
                <a:spcPts val="0"/>
              </a:spcAft>
              <a:buNone/>
            </a:pPr>
            <a:r>
              <a:rPr lang="en-US" sz="2200"/>
              <a:t>8: right elbow</a:t>
            </a:r>
            <a:endParaRPr sz="2200"/>
          </a:p>
          <a:p>
            <a:pPr indent="0" lvl="0" marL="0" rtl="0" algn="l">
              <a:spcBef>
                <a:spcPts val="1400"/>
              </a:spcBef>
              <a:spcAft>
                <a:spcPts val="0"/>
              </a:spcAft>
              <a:buNone/>
            </a:pPr>
            <a:r>
              <a:rPr lang="en-US" sz="2200"/>
              <a:t>9: left wrist</a:t>
            </a:r>
            <a:endParaRPr sz="2200"/>
          </a:p>
          <a:p>
            <a:pPr indent="0" lvl="0" marL="0" rtl="0" algn="l">
              <a:spcBef>
                <a:spcPts val="1400"/>
              </a:spcBef>
              <a:spcAft>
                <a:spcPts val="0"/>
              </a:spcAft>
              <a:buNone/>
            </a:pPr>
            <a:r>
              <a:rPr lang="en-US" sz="2200"/>
              <a:t>10: right wrist</a:t>
            </a:r>
            <a:endParaRPr sz="2200"/>
          </a:p>
          <a:p>
            <a:pPr indent="0" lvl="0" marL="0" rtl="0" algn="l">
              <a:spcBef>
                <a:spcPts val="1400"/>
              </a:spcBef>
              <a:spcAft>
                <a:spcPts val="0"/>
              </a:spcAft>
              <a:buNone/>
            </a:pPr>
            <a:r>
              <a:rPr lang="en-US" sz="2200"/>
              <a:t>11: left hip</a:t>
            </a:r>
            <a:endParaRPr sz="2200"/>
          </a:p>
          <a:p>
            <a:pPr indent="0" lvl="0" marL="0" rtl="0" algn="l">
              <a:spcBef>
                <a:spcPts val="1400"/>
              </a:spcBef>
              <a:spcAft>
                <a:spcPts val="0"/>
              </a:spcAft>
              <a:buNone/>
            </a:pPr>
            <a:r>
              <a:rPr lang="en-US" sz="2200"/>
              <a:t>12: right hip</a:t>
            </a:r>
            <a:endParaRPr sz="2200"/>
          </a:p>
          <a:p>
            <a:pPr indent="0" lvl="0" marL="0" rtl="0" algn="l">
              <a:spcBef>
                <a:spcPts val="1400"/>
              </a:spcBef>
              <a:spcAft>
                <a:spcPts val="0"/>
              </a:spcAft>
              <a:buNone/>
            </a:pPr>
            <a:r>
              <a:rPr lang="en-US" sz="2200"/>
              <a:t>13: left knee</a:t>
            </a:r>
            <a:endParaRPr sz="2200"/>
          </a:p>
          <a:p>
            <a:pPr indent="0" lvl="0" marL="0" rtl="0" algn="l">
              <a:spcBef>
                <a:spcPts val="1400"/>
              </a:spcBef>
              <a:spcAft>
                <a:spcPts val="0"/>
              </a:spcAft>
              <a:buNone/>
            </a:pPr>
            <a:r>
              <a:rPr lang="en-US" sz="2200"/>
              <a:t>14: right knee</a:t>
            </a:r>
            <a:endParaRPr sz="2200"/>
          </a:p>
          <a:p>
            <a:pPr indent="0" lvl="0" marL="0" rtl="0" algn="l">
              <a:spcBef>
                <a:spcPts val="1400"/>
              </a:spcBef>
              <a:spcAft>
                <a:spcPts val="0"/>
              </a:spcAft>
              <a:buNone/>
            </a:pPr>
            <a:r>
              <a:rPr lang="en-US" sz="2200"/>
              <a:t>15: left ankle</a:t>
            </a:r>
            <a:endParaRPr sz="2200"/>
          </a:p>
          <a:p>
            <a:pPr indent="0" lvl="0" marL="0" rtl="0" algn="l">
              <a:spcBef>
                <a:spcPts val="1400"/>
              </a:spcBef>
              <a:spcAft>
                <a:spcPts val="0"/>
              </a:spcAft>
              <a:buNone/>
            </a:pPr>
            <a:r>
              <a:rPr lang="en-US" sz="2200"/>
              <a:t>16: right ankle</a:t>
            </a:r>
            <a:endParaRPr sz="2200"/>
          </a:p>
          <a:p>
            <a:pPr indent="0" lvl="0" marL="0" rtl="0" algn="l">
              <a:spcBef>
                <a:spcPts val="1400"/>
              </a:spcBef>
              <a:spcAft>
                <a:spcPts val="200"/>
              </a:spcAft>
              <a:buNone/>
            </a:pPr>
            <a:r>
              <a:t/>
            </a:r>
            <a:endParaRPr sz="2200"/>
          </a:p>
        </p:txBody>
      </p:sp>
      <p:sp>
        <p:nvSpPr>
          <p:cNvPr id="276" name="Google Shape;276;g3acf817c85c_0_28"/>
          <p:cNvSpPr txBox="1"/>
          <p:nvPr>
            <p:ph idx="12" type="sldNum"/>
          </p:nvPr>
        </p:nvSpPr>
        <p:spPr>
          <a:xfrm>
            <a:off x="11018390" y="6035375"/>
            <a:ext cx="914400" cy="593700"/>
          </a:xfrm>
          <a:prstGeom prst="rect">
            <a:avLst/>
          </a:prstGeom>
        </p:spPr>
        <p:txBody>
          <a:bodyPr anchorCtr="0" anchor="ctr" bIns="45700" lIns="45700" spcFirstLastPara="1" rIns="45700" wrap="square" tIns="45700">
            <a:normAutofit/>
          </a:bodyPr>
          <a:lstStyle/>
          <a:p>
            <a:pPr indent="0" lvl="0" marL="0" rtl="0" algn="ctr">
              <a:spcBef>
                <a:spcPts val="0"/>
              </a:spcBef>
              <a:spcAft>
                <a:spcPts val="0"/>
              </a:spcAft>
              <a:buClr>
                <a:srgbClr val="000000"/>
              </a:buClr>
              <a:buFont typeface="Arial"/>
              <a:buNone/>
            </a:pPr>
            <a:fld id="{00000000-1234-1234-1234-123412341234}" type="slidenum">
              <a:rPr lang="en-US" sz="1800"/>
              <a:t>‹#›</a:t>
            </a:fld>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ac9579fdd0_0_123"/>
          <p:cNvSpPr txBox="1"/>
          <p:nvPr>
            <p:ph type="title"/>
          </p:nvPr>
        </p:nvSpPr>
        <p:spPr>
          <a:xfrm>
            <a:off x="248897" y="-420440"/>
            <a:ext cx="9692700" cy="1325700"/>
          </a:xfrm>
          <a:prstGeom prst="rect">
            <a:avLst/>
          </a:prstGeom>
        </p:spPr>
        <p:txBody>
          <a:bodyPr anchorCtr="0" anchor="b" bIns="45700" lIns="91425" spcFirstLastPara="1" rIns="91425" wrap="square" tIns="45700">
            <a:normAutofit/>
          </a:bodyPr>
          <a:lstStyle/>
          <a:p>
            <a:pPr indent="0" lvl="0" marL="0" rtl="0" algn="l">
              <a:lnSpc>
                <a:spcPct val="115000"/>
              </a:lnSpc>
              <a:spcBef>
                <a:spcPts val="1200"/>
              </a:spcBef>
              <a:spcAft>
                <a:spcPts val="1200"/>
              </a:spcAft>
              <a:buNone/>
            </a:pPr>
            <a:r>
              <a:rPr b="1" lang="en-US" sz="3000">
                <a:latin typeface="Arial"/>
                <a:ea typeface="Arial"/>
                <a:cs typeface="Arial"/>
                <a:sym typeface="Arial"/>
              </a:rPr>
              <a:t>Output Format(JSON/CSV keypoints)</a:t>
            </a:r>
            <a:endParaRPr b="1" sz="3000"/>
          </a:p>
        </p:txBody>
      </p:sp>
      <p:sp>
        <p:nvSpPr>
          <p:cNvPr id="283" name="Google Shape;283;g3ac9579fdd0_0_123"/>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284" name="Google Shape;284;g3ac9579fdd0_0_123"/>
          <p:cNvPicPr preferRelativeResize="0"/>
          <p:nvPr/>
        </p:nvPicPr>
        <p:blipFill>
          <a:blip r:embed="rId3">
            <a:alphaModFix/>
          </a:blip>
          <a:stretch>
            <a:fillRect/>
          </a:stretch>
        </p:blipFill>
        <p:spPr>
          <a:xfrm>
            <a:off x="152400" y="1057650"/>
            <a:ext cx="10669500" cy="56479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acf817c85c_0_0"/>
          <p:cNvSpPr txBox="1"/>
          <p:nvPr>
            <p:ph type="title"/>
          </p:nvPr>
        </p:nvSpPr>
        <p:spPr>
          <a:xfrm>
            <a:off x="1104797" y="-506765"/>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LSTM</a:t>
            </a:r>
            <a:endParaRPr/>
          </a:p>
        </p:txBody>
      </p:sp>
      <p:sp>
        <p:nvSpPr>
          <p:cNvPr id="291" name="Google Shape;291;g3acf817c85c_0_0"/>
          <p:cNvSpPr txBox="1"/>
          <p:nvPr>
            <p:ph idx="1" type="body"/>
          </p:nvPr>
        </p:nvSpPr>
        <p:spPr>
          <a:xfrm>
            <a:off x="1017550" y="1217075"/>
            <a:ext cx="8595300" cy="4955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200"/>
              <a:t>Why LSTM?</a:t>
            </a:r>
            <a:endParaRPr b="1" sz="2200"/>
          </a:p>
          <a:p>
            <a:pPr indent="-368300" lvl="0" marL="457200" rtl="0" algn="l">
              <a:lnSpc>
                <a:spcPct val="115000"/>
              </a:lnSpc>
              <a:spcBef>
                <a:spcPts val="1200"/>
              </a:spcBef>
              <a:spcAft>
                <a:spcPts val="0"/>
              </a:spcAft>
              <a:buClr>
                <a:schemeClr val="dk1"/>
              </a:buClr>
              <a:buSzPts val="2200"/>
              <a:buFont typeface="Century Schoolbook"/>
              <a:buChar char="●"/>
            </a:pPr>
            <a:r>
              <a:rPr lang="en-US" sz="2200"/>
              <a:t>Human movement is sequential.</a:t>
            </a:r>
            <a:br>
              <a:rPr lang="en-US" sz="2200"/>
            </a:br>
            <a:endParaRPr sz="2200"/>
          </a:p>
          <a:p>
            <a:pPr indent="-368300" lvl="0" marL="457200" rtl="0" algn="l">
              <a:lnSpc>
                <a:spcPct val="115000"/>
              </a:lnSpc>
              <a:spcBef>
                <a:spcPts val="0"/>
              </a:spcBef>
              <a:spcAft>
                <a:spcPts val="0"/>
              </a:spcAft>
              <a:buClr>
                <a:schemeClr val="dk1"/>
              </a:buClr>
              <a:buSzPts val="2200"/>
              <a:buFont typeface="Century Schoolbook"/>
              <a:buChar char="●"/>
            </a:pPr>
            <a:r>
              <a:rPr lang="en-US" sz="2200"/>
              <a:t>LSTM learns patterns over time (not just per frame).</a:t>
            </a:r>
            <a:br>
              <a:rPr lang="en-US" sz="2200"/>
            </a:br>
            <a:endParaRPr sz="2200"/>
          </a:p>
          <a:p>
            <a:pPr indent="0" lvl="0" marL="0" rtl="0" algn="l">
              <a:lnSpc>
                <a:spcPct val="115000"/>
              </a:lnSpc>
              <a:spcBef>
                <a:spcPts val="1200"/>
              </a:spcBef>
              <a:spcAft>
                <a:spcPts val="0"/>
              </a:spcAft>
              <a:buClr>
                <a:schemeClr val="dk1"/>
              </a:buClr>
              <a:buSzPts val="1100"/>
              <a:buFont typeface="Arial"/>
              <a:buNone/>
            </a:pPr>
            <a:r>
              <a:rPr b="1" lang="en-US" sz="2200"/>
              <a:t>How it works :</a:t>
            </a:r>
            <a:endParaRPr b="1" sz="2200"/>
          </a:p>
          <a:p>
            <a:pPr indent="-368300" lvl="0" marL="457200" rtl="0" algn="l">
              <a:lnSpc>
                <a:spcPct val="115000"/>
              </a:lnSpc>
              <a:spcBef>
                <a:spcPts val="1200"/>
              </a:spcBef>
              <a:spcAft>
                <a:spcPts val="0"/>
              </a:spcAft>
              <a:buClr>
                <a:schemeClr val="dk1"/>
              </a:buClr>
              <a:buSzPts val="2200"/>
              <a:buChar char="●"/>
            </a:pPr>
            <a:r>
              <a:rPr lang="en-US" sz="2200"/>
              <a:t>Uses 3 gates: </a:t>
            </a:r>
            <a:r>
              <a:rPr b="1" lang="en-US" sz="2200"/>
              <a:t>Forget, Input, Output</a:t>
            </a:r>
            <a:br>
              <a:rPr b="1" lang="en-US" sz="2200"/>
            </a:br>
            <a:endParaRPr b="1" sz="2200"/>
          </a:p>
          <a:p>
            <a:pPr indent="-368300" lvl="0" marL="457200" rtl="0" algn="l">
              <a:lnSpc>
                <a:spcPct val="115000"/>
              </a:lnSpc>
              <a:spcBef>
                <a:spcPts val="0"/>
              </a:spcBef>
              <a:spcAft>
                <a:spcPts val="0"/>
              </a:spcAft>
              <a:buClr>
                <a:schemeClr val="dk1"/>
              </a:buClr>
              <a:buSzPts val="2200"/>
              <a:buFont typeface="Century Schoolbook"/>
              <a:buChar char="●"/>
            </a:pPr>
            <a:r>
              <a:rPr lang="en-US" sz="2200"/>
              <a:t>Keeps useful information, removes useless, and updates memory.</a:t>
            </a:r>
            <a:br>
              <a:rPr lang="en-US" sz="2200"/>
            </a:br>
            <a:endParaRPr sz="2200"/>
          </a:p>
          <a:p>
            <a:pPr indent="0" lvl="0" marL="0" rtl="0" algn="l">
              <a:spcBef>
                <a:spcPts val="1400"/>
              </a:spcBef>
              <a:spcAft>
                <a:spcPts val="200"/>
              </a:spcAft>
              <a:buNone/>
            </a:pPr>
            <a:r>
              <a:t/>
            </a:r>
            <a:endParaRPr sz="2200"/>
          </a:p>
        </p:txBody>
      </p:sp>
      <p:sp>
        <p:nvSpPr>
          <p:cNvPr id="292" name="Google Shape;292;g3acf817c85c_0_0"/>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acf817c85c_0_9"/>
          <p:cNvSpPr txBox="1"/>
          <p:nvPr>
            <p:ph idx="1" type="body"/>
          </p:nvPr>
        </p:nvSpPr>
        <p:spPr>
          <a:xfrm>
            <a:off x="1261872" y="1828800"/>
            <a:ext cx="8595300" cy="43512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1200"/>
              </a:spcBef>
              <a:spcAft>
                <a:spcPts val="0"/>
              </a:spcAft>
              <a:buClr>
                <a:schemeClr val="dk1"/>
              </a:buClr>
              <a:buSzPct val="50000"/>
              <a:buFont typeface="Arial"/>
              <a:buNone/>
            </a:pPr>
            <a:r>
              <a:rPr b="1" lang="en-US" sz="2200"/>
              <a:t>Input to LSTM:</a:t>
            </a:r>
            <a:endParaRPr b="1" sz="2200"/>
          </a:p>
          <a:p>
            <a:pPr indent="-357822" lvl="0" marL="457200" rtl="0" algn="l">
              <a:lnSpc>
                <a:spcPct val="115000"/>
              </a:lnSpc>
              <a:spcBef>
                <a:spcPts val="1200"/>
              </a:spcBef>
              <a:spcAft>
                <a:spcPts val="0"/>
              </a:spcAft>
              <a:buClr>
                <a:schemeClr val="dk1"/>
              </a:buClr>
              <a:buSzPct val="100000"/>
              <a:buChar char="●"/>
            </a:pPr>
            <a:r>
              <a:rPr b="1" lang="en-US" sz="2200"/>
              <a:t> </a:t>
            </a:r>
            <a:r>
              <a:rPr lang="en-US" sz="2200"/>
              <a:t>Multiple frames form a </a:t>
            </a:r>
            <a:r>
              <a:rPr b="1" lang="en-US" sz="2200"/>
              <a:t>sequence</a:t>
            </a:r>
            <a:r>
              <a:rPr lang="en-US" sz="2200"/>
              <a:t> → LSTM input.</a:t>
            </a:r>
            <a:endParaRPr sz="2200"/>
          </a:p>
          <a:p>
            <a:pPr indent="0" lvl="0" marL="457200" rtl="0" algn="l">
              <a:lnSpc>
                <a:spcPct val="115000"/>
              </a:lnSpc>
              <a:spcBef>
                <a:spcPts val="1200"/>
              </a:spcBef>
              <a:spcAft>
                <a:spcPts val="0"/>
              </a:spcAft>
              <a:buNone/>
            </a:pPr>
            <a:r>
              <a:t/>
            </a:r>
            <a:endParaRPr sz="2200"/>
          </a:p>
          <a:p>
            <a:pPr indent="-357822" lvl="0" marL="457200" rtl="0" algn="l">
              <a:lnSpc>
                <a:spcPct val="115000"/>
              </a:lnSpc>
              <a:spcBef>
                <a:spcPts val="1200"/>
              </a:spcBef>
              <a:spcAft>
                <a:spcPts val="0"/>
              </a:spcAft>
              <a:buClr>
                <a:schemeClr val="dk1"/>
              </a:buClr>
              <a:buSzPct val="100000"/>
              <a:buChar char="●"/>
            </a:pPr>
            <a:r>
              <a:rPr lang="en-US" sz="2200"/>
              <a:t>Each frame → 17 keypoints → (x, y, score) → </a:t>
            </a:r>
            <a:r>
              <a:rPr b="1" lang="en-US" sz="2200"/>
              <a:t>51 features per frame</a:t>
            </a:r>
            <a:br>
              <a:rPr b="1" lang="en-US" sz="2200"/>
            </a:br>
            <a:br>
              <a:rPr lang="en-US" sz="2200"/>
            </a:br>
            <a:endParaRPr sz="2200"/>
          </a:p>
          <a:p>
            <a:pPr indent="0" lvl="0" marL="0" rtl="0" algn="l">
              <a:lnSpc>
                <a:spcPct val="115000"/>
              </a:lnSpc>
              <a:spcBef>
                <a:spcPts val="1200"/>
              </a:spcBef>
              <a:spcAft>
                <a:spcPts val="0"/>
              </a:spcAft>
              <a:buClr>
                <a:schemeClr val="dk1"/>
              </a:buClr>
              <a:buSzPct val="50000"/>
              <a:buFont typeface="Arial"/>
              <a:buNone/>
            </a:pPr>
            <a:r>
              <a:rPr b="1" lang="en-US" sz="2200"/>
              <a:t>Output:</a:t>
            </a:r>
            <a:endParaRPr b="1" sz="2200"/>
          </a:p>
          <a:p>
            <a:pPr indent="-357822" lvl="0" marL="457200" rtl="0" algn="l">
              <a:lnSpc>
                <a:spcPct val="115000"/>
              </a:lnSpc>
              <a:spcBef>
                <a:spcPts val="1200"/>
              </a:spcBef>
              <a:spcAft>
                <a:spcPts val="0"/>
              </a:spcAft>
              <a:buClr>
                <a:schemeClr val="dk1"/>
              </a:buClr>
              <a:buSzPct val="100000"/>
              <a:buChar char="●"/>
            </a:pPr>
            <a:r>
              <a:rPr lang="en-US" sz="2200"/>
              <a:t>Predicts </a:t>
            </a:r>
            <a:r>
              <a:rPr b="1" lang="en-US" sz="2200"/>
              <a:t>normal vs suspicious movement</a:t>
            </a:r>
            <a:r>
              <a:rPr lang="en-US" sz="2200"/>
              <a:t>.</a:t>
            </a:r>
            <a:endParaRPr sz="2200"/>
          </a:p>
          <a:p>
            <a:pPr indent="0" lvl="0" marL="0" rtl="0" algn="l">
              <a:spcBef>
                <a:spcPts val="1400"/>
              </a:spcBef>
              <a:spcAft>
                <a:spcPts val="0"/>
              </a:spcAft>
              <a:buClr>
                <a:schemeClr val="dk1"/>
              </a:buClr>
              <a:buSzPct val="50000"/>
              <a:buFont typeface="Arial"/>
              <a:buNone/>
            </a:pPr>
            <a:r>
              <a:t/>
            </a:r>
            <a:endParaRPr sz="2200"/>
          </a:p>
          <a:p>
            <a:pPr indent="0" lvl="0" marL="0" rtl="0" algn="l">
              <a:spcBef>
                <a:spcPts val="1400"/>
              </a:spcBef>
              <a:spcAft>
                <a:spcPts val="200"/>
              </a:spcAft>
              <a:buNone/>
            </a:pPr>
            <a:r>
              <a:t/>
            </a:r>
            <a:endParaRPr/>
          </a:p>
        </p:txBody>
      </p:sp>
      <p:sp>
        <p:nvSpPr>
          <p:cNvPr id="299" name="Google Shape;299;g3acf817c85c_0_9"/>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acc0a7022e_0_38"/>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sz="3500"/>
              <a:t>SOFTWARE DEVELOPMENT PLAN</a:t>
            </a:r>
            <a:endParaRPr sz="3500"/>
          </a:p>
        </p:txBody>
      </p:sp>
      <p:sp>
        <p:nvSpPr>
          <p:cNvPr id="306" name="Google Shape;306;g3acc0a7022e_0_38"/>
          <p:cNvSpPr txBox="1"/>
          <p:nvPr>
            <p:ph idx="1" type="body"/>
          </p:nvPr>
        </p:nvSpPr>
        <p:spPr>
          <a:xfrm>
            <a:off x="1261872" y="1828800"/>
            <a:ext cx="8595300" cy="4351200"/>
          </a:xfrm>
          <a:prstGeom prst="rect">
            <a:avLst/>
          </a:prstGeom>
        </p:spPr>
        <p:txBody>
          <a:bodyPr anchorCtr="0" anchor="t" bIns="45700" lIns="91425" spcFirstLastPara="1" rIns="91425" wrap="square" tIns="45700">
            <a:noAutofit/>
          </a:bodyPr>
          <a:lstStyle/>
          <a:p>
            <a:pPr indent="0" lvl="0" marL="0" rtl="0" algn="l">
              <a:spcBef>
                <a:spcPts val="1400"/>
              </a:spcBef>
              <a:spcAft>
                <a:spcPts val="0"/>
              </a:spcAft>
              <a:buClr>
                <a:schemeClr val="dk1"/>
              </a:buClr>
              <a:buSzPts val="1100"/>
              <a:buFont typeface="Arial"/>
              <a:buNone/>
            </a:pPr>
            <a:r>
              <a:rPr b="1" lang="en-US" sz="2500"/>
              <a:t>Using Agile Scrum</a:t>
            </a:r>
            <a:endParaRPr b="1" sz="2500"/>
          </a:p>
          <a:p>
            <a:pPr indent="0" lvl="0" marL="457200" rtl="0" algn="l">
              <a:spcBef>
                <a:spcPts val="1400"/>
              </a:spcBef>
              <a:spcAft>
                <a:spcPts val="0"/>
              </a:spcAft>
              <a:buNone/>
            </a:pPr>
            <a:r>
              <a:rPr lang="en-US" sz="2500"/>
              <a:t>Each </a:t>
            </a:r>
            <a:r>
              <a:rPr lang="en-US" sz="2500"/>
              <a:t>Sprints </a:t>
            </a:r>
            <a:r>
              <a:rPr lang="en-US" sz="2500"/>
              <a:t>(</a:t>
            </a:r>
            <a:r>
              <a:rPr lang="en-US" sz="2500"/>
              <a:t>2 months</a:t>
            </a:r>
            <a:r>
              <a:rPr lang="en-US" sz="2500"/>
              <a:t>):-</a:t>
            </a:r>
            <a:endParaRPr sz="2500"/>
          </a:p>
          <a:p>
            <a:pPr indent="-387350" lvl="0" marL="457200" rtl="0" algn="l">
              <a:spcBef>
                <a:spcPts val="1400"/>
              </a:spcBef>
              <a:spcAft>
                <a:spcPts val="0"/>
              </a:spcAft>
              <a:buSzPts val="2500"/>
              <a:buChar char="●"/>
            </a:pPr>
            <a:r>
              <a:rPr lang="en-US" sz="2500"/>
              <a:t>Sprint 1: Literature Overview and UML Diagrams</a:t>
            </a:r>
            <a:endParaRPr sz="2500"/>
          </a:p>
          <a:p>
            <a:pPr indent="-387350" lvl="0" marL="457200" rtl="0" algn="l">
              <a:spcBef>
                <a:spcPts val="0"/>
              </a:spcBef>
              <a:spcAft>
                <a:spcPts val="0"/>
              </a:spcAft>
              <a:buSzPts val="2500"/>
              <a:buChar char="●"/>
            </a:pPr>
            <a:r>
              <a:rPr lang="en-US" sz="2500"/>
              <a:t>Sprint 2: </a:t>
            </a:r>
            <a:r>
              <a:rPr lang="en-US" sz="2500"/>
              <a:t>Movenet model</a:t>
            </a:r>
            <a:endParaRPr sz="2500"/>
          </a:p>
          <a:p>
            <a:pPr indent="-387350" lvl="0" marL="457200" rtl="0" algn="l">
              <a:spcBef>
                <a:spcPts val="0"/>
              </a:spcBef>
              <a:spcAft>
                <a:spcPts val="0"/>
              </a:spcAft>
              <a:buSzPts val="2500"/>
              <a:buChar char="●"/>
            </a:pPr>
            <a:r>
              <a:rPr lang="en-US" sz="2500"/>
              <a:t>Sprint 3: LSTM design</a:t>
            </a:r>
            <a:endParaRPr sz="2500"/>
          </a:p>
          <a:p>
            <a:pPr indent="-387350" lvl="0" marL="457200" rtl="0" algn="l">
              <a:spcBef>
                <a:spcPts val="0"/>
              </a:spcBef>
              <a:spcAft>
                <a:spcPts val="0"/>
              </a:spcAft>
              <a:buSzPts val="2500"/>
              <a:buChar char="●"/>
            </a:pPr>
            <a:r>
              <a:rPr lang="en-US" sz="2500"/>
              <a:t>Sprint 4: Models Testing</a:t>
            </a:r>
            <a:endParaRPr sz="2500"/>
          </a:p>
          <a:p>
            <a:pPr indent="-387350" lvl="0" marL="457200" rtl="0" algn="l">
              <a:spcBef>
                <a:spcPts val="0"/>
              </a:spcBef>
              <a:spcAft>
                <a:spcPts val="0"/>
              </a:spcAft>
              <a:buSzPts val="2500"/>
              <a:buChar char="●"/>
            </a:pPr>
            <a:r>
              <a:rPr lang="en-US" sz="2500"/>
              <a:t>Sprint 5: Final Thesis + Report</a:t>
            </a:r>
            <a:endParaRPr sz="2500"/>
          </a:p>
          <a:p>
            <a:pPr indent="0" lvl="0" marL="0" rtl="0" algn="l">
              <a:spcBef>
                <a:spcPts val="1400"/>
              </a:spcBef>
              <a:spcAft>
                <a:spcPts val="0"/>
              </a:spcAft>
              <a:buClr>
                <a:schemeClr val="dk1"/>
              </a:buClr>
              <a:buSzPts val="1100"/>
              <a:buFont typeface="Arial"/>
              <a:buNone/>
            </a:pPr>
            <a:r>
              <a:t/>
            </a:r>
            <a:endParaRPr sz="2500"/>
          </a:p>
          <a:p>
            <a:pPr indent="0" lvl="0" marL="0" rtl="0" algn="l">
              <a:spcBef>
                <a:spcPts val="1400"/>
              </a:spcBef>
              <a:spcAft>
                <a:spcPts val="0"/>
              </a:spcAft>
              <a:buClr>
                <a:schemeClr val="dk1"/>
              </a:buClr>
              <a:buSzPts val="1100"/>
              <a:buFont typeface="Arial"/>
              <a:buNone/>
            </a:pPr>
            <a:r>
              <a:t/>
            </a:r>
            <a:endParaRPr/>
          </a:p>
          <a:p>
            <a:pPr indent="0" lvl="0" marL="0" rtl="0" algn="l">
              <a:spcBef>
                <a:spcPts val="1400"/>
              </a:spcBef>
              <a:spcAft>
                <a:spcPts val="200"/>
              </a:spcAft>
              <a:buNone/>
            </a:pPr>
            <a:r>
              <a:t/>
            </a:r>
            <a:endParaRPr/>
          </a:p>
        </p:txBody>
      </p:sp>
      <p:sp>
        <p:nvSpPr>
          <p:cNvPr id="307" name="Google Shape;307;g3acc0a7022e_0_38"/>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acc0a7022e_0_58"/>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Algorithm Design</a:t>
            </a:r>
            <a:endParaRPr/>
          </a:p>
        </p:txBody>
      </p:sp>
      <p:sp>
        <p:nvSpPr>
          <p:cNvPr id="314" name="Google Shape;314;g3acc0a7022e_0_58"/>
          <p:cNvSpPr txBox="1"/>
          <p:nvPr>
            <p:ph idx="1" type="body"/>
          </p:nvPr>
        </p:nvSpPr>
        <p:spPr>
          <a:xfrm>
            <a:off x="1261872" y="1828800"/>
            <a:ext cx="8595300" cy="4351200"/>
          </a:xfrm>
          <a:prstGeom prst="rect">
            <a:avLst/>
          </a:prstGeom>
        </p:spPr>
        <p:txBody>
          <a:bodyPr anchorCtr="0" anchor="t" bIns="45700" lIns="91425" spcFirstLastPara="1" rIns="91425" wrap="square" tIns="45700">
            <a:normAutofit/>
          </a:bodyPr>
          <a:lstStyle/>
          <a:p>
            <a:pPr indent="-368300" lvl="0" marL="457200" rtl="0" algn="l">
              <a:spcBef>
                <a:spcPts val="1400"/>
              </a:spcBef>
              <a:spcAft>
                <a:spcPts val="0"/>
              </a:spcAft>
              <a:buSzPts val="2200"/>
              <a:buChar char="●"/>
            </a:pPr>
            <a:r>
              <a:rPr lang="en-US" sz="2200"/>
              <a:t>Pose Extraction (Movenet)</a:t>
            </a:r>
            <a:endParaRPr sz="2200"/>
          </a:p>
          <a:p>
            <a:pPr indent="0" lvl="0" marL="0" rtl="0" algn="l">
              <a:spcBef>
                <a:spcPts val="1400"/>
              </a:spcBef>
              <a:spcAft>
                <a:spcPts val="0"/>
              </a:spcAft>
              <a:buClr>
                <a:schemeClr val="dk1"/>
              </a:buClr>
              <a:buSzPts val="1100"/>
              <a:buFont typeface="Arial"/>
              <a:buNone/>
            </a:pPr>
            <a:r>
              <a:t/>
            </a:r>
            <a:endParaRPr sz="2200"/>
          </a:p>
          <a:p>
            <a:pPr indent="-368300" lvl="0" marL="457200" rtl="0" algn="l">
              <a:spcBef>
                <a:spcPts val="1400"/>
              </a:spcBef>
              <a:spcAft>
                <a:spcPts val="0"/>
              </a:spcAft>
              <a:buSzPts val="2200"/>
              <a:buChar char="●"/>
            </a:pPr>
            <a:r>
              <a:rPr lang="en-US" sz="2200"/>
              <a:t>Feature Encoding</a:t>
            </a:r>
            <a:r>
              <a:rPr lang="en-US" sz="2200"/>
              <a:t> (Flatten )</a:t>
            </a:r>
            <a:endParaRPr sz="2200"/>
          </a:p>
          <a:p>
            <a:pPr indent="0" lvl="0" marL="0" rtl="0" algn="l">
              <a:spcBef>
                <a:spcPts val="1400"/>
              </a:spcBef>
              <a:spcAft>
                <a:spcPts val="0"/>
              </a:spcAft>
              <a:buClr>
                <a:schemeClr val="dk1"/>
              </a:buClr>
              <a:buSzPts val="1100"/>
              <a:buFont typeface="Arial"/>
              <a:buNone/>
            </a:pPr>
            <a:r>
              <a:t/>
            </a:r>
            <a:endParaRPr sz="2200"/>
          </a:p>
          <a:p>
            <a:pPr indent="-368300" lvl="0" marL="457200" rtl="0" algn="l">
              <a:spcBef>
                <a:spcPts val="1400"/>
              </a:spcBef>
              <a:spcAft>
                <a:spcPts val="0"/>
              </a:spcAft>
              <a:buSzPts val="2200"/>
              <a:buChar char="●"/>
            </a:pPr>
            <a:r>
              <a:rPr lang="en-US" sz="2200"/>
              <a:t>LSTM </a:t>
            </a:r>
            <a:endParaRPr sz="2200"/>
          </a:p>
          <a:p>
            <a:pPr indent="0" lvl="0" marL="0" rtl="0" algn="l">
              <a:spcBef>
                <a:spcPts val="1400"/>
              </a:spcBef>
              <a:spcAft>
                <a:spcPts val="0"/>
              </a:spcAft>
              <a:buClr>
                <a:schemeClr val="dk1"/>
              </a:buClr>
              <a:buSzPts val="1100"/>
              <a:buFont typeface="Arial"/>
              <a:buNone/>
            </a:pPr>
            <a:r>
              <a:t/>
            </a:r>
            <a:endParaRPr sz="2200"/>
          </a:p>
          <a:p>
            <a:pPr indent="-368300" lvl="0" marL="457200" rtl="0" algn="l">
              <a:spcBef>
                <a:spcPts val="1400"/>
              </a:spcBef>
              <a:spcAft>
                <a:spcPts val="0"/>
              </a:spcAft>
              <a:buSzPts val="2200"/>
              <a:buChar char="●"/>
            </a:pPr>
            <a:r>
              <a:rPr lang="en-US" sz="2200"/>
              <a:t>Alert Generation Logic</a:t>
            </a:r>
            <a:endParaRPr sz="2200"/>
          </a:p>
          <a:p>
            <a:pPr indent="0" lvl="0" marL="0" rtl="0" algn="l">
              <a:spcBef>
                <a:spcPts val="1400"/>
              </a:spcBef>
              <a:spcAft>
                <a:spcPts val="0"/>
              </a:spcAft>
              <a:buClr>
                <a:schemeClr val="dk1"/>
              </a:buClr>
              <a:buSzPts val="1100"/>
              <a:buFont typeface="Arial"/>
              <a:buNone/>
            </a:pPr>
            <a:r>
              <a:t/>
            </a:r>
            <a:endParaRPr/>
          </a:p>
          <a:p>
            <a:pPr indent="0" lvl="0" marL="0" rtl="0" algn="l">
              <a:spcBef>
                <a:spcPts val="1400"/>
              </a:spcBef>
              <a:spcAft>
                <a:spcPts val="200"/>
              </a:spcAft>
              <a:buNone/>
            </a:pPr>
            <a:r>
              <a:t/>
            </a:r>
            <a:endParaRPr/>
          </a:p>
        </p:txBody>
      </p:sp>
      <p:sp>
        <p:nvSpPr>
          <p:cNvPr id="315" name="Google Shape;315;g3acc0a7022e_0_58"/>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acf817c85c_1_7"/>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22" name="Google Shape;322;g3acf817c85c_1_7"/>
          <p:cNvPicPr preferRelativeResize="0"/>
          <p:nvPr/>
        </p:nvPicPr>
        <p:blipFill>
          <a:blip r:embed="rId3">
            <a:alphaModFix/>
          </a:blip>
          <a:stretch>
            <a:fillRect/>
          </a:stretch>
        </p:blipFill>
        <p:spPr>
          <a:xfrm>
            <a:off x="152400" y="152400"/>
            <a:ext cx="11140451" cy="661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acf817c85c_1_16"/>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329" name="Google Shape;329;g3acf817c85c_1_16"/>
          <p:cNvSpPr txBox="1"/>
          <p:nvPr>
            <p:ph idx="12" type="sldNum"/>
          </p:nvPr>
        </p:nvSpPr>
        <p:spPr>
          <a:xfrm>
            <a:off x="11292840" y="6172200"/>
            <a:ext cx="914400" cy="593700"/>
          </a:xfrm>
          <a:prstGeom prst="rect">
            <a:avLst/>
          </a:prstGeom>
        </p:spPr>
        <p:txBody>
          <a:bodyPr anchorCtr="0" anchor="ctr" bIns="45700" lIns="45700" spcFirstLastPara="1" rIns="45700" wrap="square" tIns="45700">
            <a:normAutofit lnSpcReduction="1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pic>
        <p:nvPicPr>
          <p:cNvPr id="330" name="Google Shape;330;g3acf817c85c_1_16"/>
          <p:cNvPicPr preferRelativeResize="0"/>
          <p:nvPr/>
        </p:nvPicPr>
        <p:blipFill>
          <a:blip r:embed="rId3">
            <a:alphaModFix/>
          </a:blip>
          <a:stretch>
            <a:fillRect/>
          </a:stretch>
        </p:blipFill>
        <p:spPr>
          <a:xfrm>
            <a:off x="152400" y="141100"/>
            <a:ext cx="10601075" cy="6564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1"/>
          <p:cNvSpPr txBox="1"/>
          <p:nvPr>
            <p:ph type="title"/>
          </p:nvPr>
        </p:nvSpPr>
        <p:spPr>
          <a:xfrm>
            <a:off x="140995" y="433842"/>
            <a:ext cx="4077044" cy="83832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Gantt Chart</a:t>
            </a:r>
            <a:endParaRPr/>
          </a:p>
        </p:txBody>
      </p:sp>
      <p:sp>
        <p:nvSpPr>
          <p:cNvPr id="336" name="Google Shape;336;p21"/>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337" name="Google Shape;337;p21"/>
          <p:cNvPicPr preferRelativeResize="0"/>
          <p:nvPr/>
        </p:nvPicPr>
        <p:blipFill rotWithShape="1">
          <a:blip r:embed="rId3">
            <a:alphaModFix/>
          </a:blip>
          <a:srcRect b="0" l="0" r="0" t="0"/>
          <a:stretch/>
        </p:blipFill>
        <p:spPr>
          <a:xfrm>
            <a:off x="9820362" y="92075"/>
            <a:ext cx="1472478" cy="1472478"/>
          </a:xfrm>
          <a:prstGeom prst="rect">
            <a:avLst/>
          </a:prstGeom>
          <a:noFill/>
          <a:ln>
            <a:noFill/>
          </a:ln>
        </p:spPr>
      </p:pic>
      <p:pic>
        <p:nvPicPr>
          <p:cNvPr id="338" name="Google Shape;338;p21"/>
          <p:cNvPicPr preferRelativeResize="0"/>
          <p:nvPr/>
        </p:nvPicPr>
        <p:blipFill>
          <a:blip r:embed="rId4">
            <a:alphaModFix/>
          </a:blip>
          <a:stretch>
            <a:fillRect/>
          </a:stretch>
        </p:blipFill>
        <p:spPr>
          <a:xfrm>
            <a:off x="152400" y="1272150"/>
            <a:ext cx="9792951" cy="54334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2"/>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id="344" name="Google Shape;344;p22"/>
          <p:cNvPicPr preferRelativeResize="0"/>
          <p:nvPr/>
        </p:nvPicPr>
        <p:blipFill>
          <a:blip r:embed="rId3">
            <a:alphaModFix/>
          </a:blip>
          <a:stretch>
            <a:fillRect/>
          </a:stretch>
        </p:blipFill>
        <p:spPr>
          <a:xfrm>
            <a:off x="973300" y="438950"/>
            <a:ext cx="10988042" cy="632696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3437"/>
        </a:solidFill>
      </p:bgPr>
    </p:bg>
    <p:spTree>
      <p:nvGrpSpPr>
        <p:cNvPr id="348" name="Shape 348"/>
        <p:cNvGrpSpPr/>
        <p:nvPr/>
      </p:nvGrpSpPr>
      <p:grpSpPr>
        <a:xfrm>
          <a:off x="0" y="0"/>
          <a:ext cx="0" cy="0"/>
          <a:chOff x="0" y="0"/>
          <a:chExt cx="0" cy="0"/>
        </a:xfrm>
      </p:grpSpPr>
      <p:sp>
        <p:nvSpPr>
          <p:cNvPr id="349" name="Google Shape;349;g3acf5a24a58_0_0"/>
          <p:cNvSpPr txBox="1"/>
          <p:nvPr>
            <p:ph type="ctrTitle"/>
          </p:nvPr>
        </p:nvSpPr>
        <p:spPr>
          <a:xfrm>
            <a:off x="855940" y="1416546"/>
            <a:ext cx="10480200" cy="181350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lt1"/>
              </a:buClr>
              <a:buSzPts val="4400"/>
              <a:buFont typeface="Century Schoolbook"/>
              <a:buNone/>
            </a:pPr>
            <a:r>
              <a:rPr lang="en-US" sz="8000"/>
              <a:t>Thank You </a:t>
            </a:r>
            <a:endParaRPr sz="8000"/>
          </a:p>
        </p:txBody>
      </p:sp>
      <p:sp>
        <p:nvSpPr>
          <p:cNvPr id="350" name="Google Shape;350;g3acf5a24a58_0_0"/>
          <p:cNvSpPr txBox="1"/>
          <p:nvPr>
            <p:ph idx="1" type="subTitle"/>
          </p:nvPr>
        </p:nvSpPr>
        <p:spPr>
          <a:xfrm>
            <a:off x="1261871" y="4165201"/>
            <a:ext cx="4578600" cy="2117700"/>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1400"/>
              </a:spcBef>
              <a:spcAft>
                <a:spcPts val="0"/>
              </a:spcAft>
              <a:buSzPts val="1760"/>
              <a:buNone/>
            </a:pPr>
            <a:r>
              <a:t/>
            </a:r>
            <a:endParaRPr/>
          </a:p>
        </p:txBody>
      </p:sp>
      <p:sp>
        <p:nvSpPr>
          <p:cNvPr id="351" name="Google Shape;351;g3acf5a24a58_0_0"/>
          <p:cNvSpPr txBox="1"/>
          <p:nvPr/>
        </p:nvSpPr>
        <p:spPr>
          <a:xfrm>
            <a:off x="6782874" y="4165200"/>
            <a:ext cx="3762900" cy="1691700"/>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1400"/>
              </a:spcBef>
              <a:spcAft>
                <a:spcPts val="0"/>
              </a:spcAft>
              <a:buClr>
                <a:schemeClr val="accent1"/>
              </a:buClr>
              <a:buSzPts val="2240"/>
              <a:buFont typeface="Arial"/>
              <a:buNone/>
            </a:pPr>
            <a:r>
              <a:t/>
            </a:r>
            <a:endParaRPr sz="2400">
              <a:solidFill>
                <a:srgbClr val="BFBFBF"/>
              </a:solidFill>
              <a:latin typeface="Century Schoolbook"/>
              <a:ea typeface="Century Schoolbook"/>
              <a:cs typeface="Century Schoolbook"/>
              <a:sym typeface="Century Schoolbook"/>
            </a:endParaRPr>
          </a:p>
        </p:txBody>
      </p:sp>
      <p:pic>
        <p:nvPicPr>
          <p:cNvPr descr="National University of Computer and Emerging Sciences - Wikipedia" id="352" name="Google Shape;352;g3acf5a24a58_0_0"/>
          <p:cNvPicPr preferRelativeResize="0"/>
          <p:nvPr/>
        </p:nvPicPr>
        <p:blipFill rotWithShape="1">
          <a:blip r:embed="rId3">
            <a:alphaModFix/>
          </a:blip>
          <a:srcRect b="0" l="0" r="0" t="0"/>
          <a:stretch/>
        </p:blipFill>
        <p:spPr>
          <a:xfrm>
            <a:off x="10269514" y="255554"/>
            <a:ext cx="1472478" cy="147247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3"/>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References</a:t>
            </a:r>
            <a:endParaRPr/>
          </a:p>
        </p:txBody>
      </p:sp>
      <p:sp>
        <p:nvSpPr>
          <p:cNvPr id="358" name="Google Shape;358;p23"/>
          <p:cNvSpPr txBox="1"/>
          <p:nvPr>
            <p:ph idx="1" type="body"/>
          </p:nvPr>
        </p:nvSpPr>
        <p:spPr>
          <a:xfrm>
            <a:off x="987552" y="1760038"/>
            <a:ext cx="8595300" cy="4607400"/>
          </a:xfrm>
          <a:prstGeom prst="rect">
            <a:avLst/>
          </a:prstGeom>
          <a:noFill/>
          <a:ln>
            <a:noFill/>
          </a:ln>
        </p:spPr>
        <p:txBody>
          <a:bodyPr anchorCtr="0" anchor="t" bIns="45700" lIns="91425" spcFirstLastPara="1" rIns="91425" wrap="square" tIns="45700">
            <a:normAutofit/>
          </a:bodyPr>
          <a:lstStyle/>
          <a:p>
            <a:pPr indent="-172720" lvl="0" marL="182880" rtl="0" algn="l">
              <a:lnSpc>
                <a:spcPct val="115000"/>
              </a:lnSpc>
              <a:spcBef>
                <a:spcPts val="1200"/>
              </a:spcBef>
              <a:spcAft>
                <a:spcPts val="0"/>
              </a:spcAft>
              <a:buSzPts val="1280"/>
              <a:buFont typeface="Century Schoolbook"/>
              <a:buAutoNum type="arabicPeriod"/>
            </a:pPr>
            <a:r>
              <a:rPr lang="en-US" sz="1400"/>
              <a:t>[1] </a:t>
            </a:r>
            <a:r>
              <a:rPr lang="en-US" sz="1400">
                <a:solidFill>
                  <a:srgbClr val="222222"/>
                </a:solidFill>
                <a:highlight>
                  <a:schemeClr val="lt1"/>
                </a:highlight>
                <a:latin typeface="Arial"/>
                <a:ea typeface="Arial"/>
                <a:cs typeface="Arial"/>
                <a:sym typeface="Arial"/>
              </a:rPr>
              <a:t>Rashvand, N., Noghre, G.A., Pazho, A.D., Yao, S. and Tabkhi, H., 2025. Exploring Pose-Based Anomaly Detection for Retail Security: A Real-World Shoplifting Dataset and Benchmark. In </a:t>
            </a:r>
            <a:r>
              <a:rPr i="1" lang="en-US" sz="1400">
                <a:solidFill>
                  <a:srgbClr val="222222"/>
                </a:solidFill>
                <a:highlight>
                  <a:schemeClr val="lt1"/>
                </a:highlight>
                <a:latin typeface="Arial"/>
                <a:ea typeface="Arial"/>
                <a:cs typeface="Arial"/>
                <a:sym typeface="Arial"/>
              </a:rPr>
              <a:t>Proceedings of the Winter Conference on Applications of Computer Vision</a:t>
            </a:r>
            <a:r>
              <a:rPr lang="en-US" sz="1400">
                <a:solidFill>
                  <a:srgbClr val="222222"/>
                </a:solidFill>
                <a:highlight>
                  <a:schemeClr val="lt1"/>
                </a:highlight>
                <a:latin typeface="Arial"/>
                <a:ea typeface="Arial"/>
                <a:cs typeface="Arial"/>
                <a:sym typeface="Arial"/>
              </a:rPr>
              <a:t> (pp. 1123-1131).</a:t>
            </a:r>
            <a:endParaRPr sz="1400">
              <a:solidFill>
                <a:srgbClr val="222222"/>
              </a:solidFill>
              <a:highlight>
                <a:schemeClr val="lt1"/>
              </a:highlight>
              <a:latin typeface="Arial"/>
              <a:ea typeface="Arial"/>
              <a:cs typeface="Arial"/>
              <a:sym typeface="Arial"/>
            </a:endParaRPr>
          </a:p>
          <a:p>
            <a:pPr indent="-193040" lvl="0" marL="182880" rtl="0" algn="l">
              <a:lnSpc>
                <a:spcPct val="115000"/>
              </a:lnSpc>
              <a:spcBef>
                <a:spcPts val="1200"/>
              </a:spcBef>
              <a:spcAft>
                <a:spcPts val="0"/>
              </a:spcAft>
              <a:buSzPts val="1600"/>
              <a:buAutoNum type="arabicPeriod"/>
            </a:pPr>
            <a:r>
              <a:rPr lang="en-US" sz="1400"/>
              <a:t>[2] </a:t>
            </a:r>
            <a:r>
              <a:rPr lang="en-US" sz="1400">
                <a:solidFill>
                  <a:srgbClr val="222222"/>
                </a:solidFill>
                <a:highlight>
                  <a:schemeClr val="lt1"/>
                </a:highlight>
                <a:latin typeface="Arial"/>
                <a:ea typeface="Arial"/>
                <a:cs typeface="Arial"/>
                <a:sym typeface="Arial"/>
              </a:rPr>
              <a:t>Rashvand, N., Noghre, G.A., Pazho, A.D., Ardabili, B.R. and Tabkhi, H., 2025. Shopformer: Transformer-Based Framework for Detecting Shoplifting via Human Pose. In </a:t>
            </a:r>
            <a:r>
              <a:rPr i="1" lang="en-US" sz="1400">
                <a:solidFill>
                  <a:srgbClr val="222222"/>
                </a:solidFill>
                <a:highlight>
                  <a:schemeClr val="lt1"/>
                </a:highlight>
                <a:latin typeface="Arial"/>
                <a:ea typeface="Arial"/>
                <a:cs typeface="Arial"/>
                <a:sym typeface="Arial"/>
              </a:rPr>
              <a:t>Proceedings of the Computer Vision and Pattern Recognition Conference</a:t>
            </a:r>
            <a:r>
              <a:rPr lang="en-US" sz="1400">
                <a:solidFill>
                  <a:srgbClr val="222222"/>
                </a:solidFill>
                <a:highlight>
                  <a:schemeClr val="lt1"/>
                </a:highlight>
                <a:latin typeface="Arial"/>
                <a:ea typeface="Arial"/>
                <a:cs typeface="Arial"/>
                <a:sym typeface="Arial"/>
              </a:rPr>
              <a:t> (pp. 5752-5761).</a:t>
            </a:r>
            <a:endParaRPr sz="1400"/>
          </a:p>
          <a:p>
            <a:pPr indent="-193040" lvl="0" marL="182880" rtl="0" algn="l">
              <a:spcBef>
                <a:spcPts val="1600"/>
              </a:spcBef>
              <a:spcAft>
                <a:spcPts val="0"/>
              </a:spcAft>
              <a:buSzPts val="1600"/>
              <a:buAutoNum type="arabicPeriod"/>
            </a:pPr>
            <a:r>
              <a:t/>
            </a:r>
            <a:endParaRPr sz="1700"/>
          </a:p>
          <a:p>
            <a:pPr indent="-363220" lvl="0" marL="342900" rtl="0" algn="l">
              <a:lnSpc>
                <a:spcPct val="95000"/>
              </a:lnSpc>
              <a:spcBef>
                <a:spcPts val="0"/>
              </a:spcBef>
              <a:spcAft>
                <a:spcPts val="0"/>
              </a:spcAft>
              <a:buSzPts val="1600"/>
              <a:buFont typeface="Arial"/>
              <a:buAutoNum type="arabicPeriod"/>
            </a:pPr>
            <a:r>
              <a:t/>
            </a:r>
            <a:endParaRPr b="1" sz="1600">
              <a:latin typeface="Arial"/>
              <a:ea typeface="Arial"/>
              <a:cs typeface="Arial"/>
              <a:sym typeface="Arial"/>
            </a:endParaRPr>
          </a:p>
        </p:txBody>
      </p:sp>
      <p:sp>
        <p:nvSpPr>
          <p:cNvPr id="359" name="Google Shape;359;p23"/>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lnSpcReduction="10000"/>
          </a:bodyPr>
          <a:lstStyle/>
          <a:p>
            <a:pPr indent="0" lvl="0" marL="0" rtl="0" algn="ctr">
              <a:spcBef>
                <a:spcPts val="0"/>
              </a:spcBef>
              <a:spcAft>
                <a:spcPts val="0"/>
              </a:spcAft>
              <a:buNone/>
            </a:pPr>
            <a:fld id="{00000000-1234-1234-1234-123412341234}" type="slidenum">
              <a:rPr lang="en-US"/>
              <a:t>‹#›</a:t>
            </a:fld>
            <a:endParaRPr/>
          </a:p>
        </p:txBody>
      </p:sp>
      <p:pic>
        <p:nvPicPr>
          <p:cNvPr descr="National University of Computer and Emerging Sciences - Wikipedia" id="360" name="Google Shape;360;p23"/>
          <p:cNvPicPr preferRelativeResize="0"/>
          <p:nvPr/>
        </p:nvPicPr>
        <p:blipFill rotWithShape="1">
          <a:blip r:embed="rId3">
            <a:alphaModFix/>
          </a:blip>
          <a:srcRect b="0" l="0" r="0" t="0"/>
          <a:stretch/>
        </p:blipFill>
        <p:spPr>
          <a:xfrm>
            <a:off x="9457650" y="287583"/>
            <a:ext cx="1472478" cy="14724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2022-09-07T06:12:00Z</dcterms:created>
  <dc:creator>zeshan khan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496BCD326DD84BB1BAE72CC8E4FFDCC7_12</vt:lpwstr>
  </property>
  <property fmtid="{D5CDD505-2E9C-101B-9397-08002B2CF9AE}" pid="3" name="KSOProductBuildVer">
    <vt:lpwstr>2057-12.2.0.20326</vt:lpwstr>
  </property>
</Properties>
</file>