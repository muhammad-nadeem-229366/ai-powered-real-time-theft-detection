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embeddedFontLst>
    <p:embeddedFont>
      <p:font typeface="Century Schoolbook" panose="02040604050505020304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8ef8955fb_3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48ef8955fb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a68fbb16d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g38a68fbb16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D0AA1C9-044F-9A6D-0E70-6DFD9490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52119CF8-12BA-9F10-D824-03DBDE187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867BDA68-CEC1-E43B-67AF-E2C3C748D6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4580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sz="72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sz="32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sz="28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>
            <a:spLocks noGrp="1"/>
          </p:cNvSpPr>
          <p:nvPr>
            <p:ph type="pic" idx="2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1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ctrTitle"/>
          </p:nvPr>
        </p:nvSpPr>
        <p:spPr>
          <a:xfrm>
            <a:off x="817350" y="1069600"/>
            <a:ext cx="10025400" cy="1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4460">
                <a:solidFill>
                  <a:srgbClr val="FFFFFF"/>
                </a:solidFill>
              </a:rPr>
              <a:t>AI-Powered Real-Time Theft Detection System for Shopping Malls</a:t>
            </a:r>
            <a:endParaRPr sz="6080"/>
          </a:p>
        </p:txBody>
      </p:sp>
      <p:sp>
        <p:nvSpPr>
          <p:cNvPr id="107" name="Google Shape;107;p15"/>
          <p:cNvSpPr txBox="1">
            <a:spLocks noGrp="1"/>
          </p:cNvSpPr>
          <p:nvPr>
            <p:ph type="subTitle" idx="1"/>
          </p:nvPr>
        </p:nvSpPr>
        <p:spPr>
          <a:xfrm>
            <a:off x="1261875" y="4056850"/>
            <a:ext cx="5549100" cy="24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rgbClr val="BFBFBF"/>
                </a:solidFill>
              </a:rPr>
              <a:t>Group Members</a:t>
            </a:r>
            <a:endParaRPr sz="2400" b="1">
              <a:solidFill>
                <a:srgbClr val="BFBFBF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Muhammad Nadeem(</a:t>
            </a:r>
            <a:r>
              <a:rPr lang="en-US">
                <a:solidFill>
                  <a:srgbClr val="BFBFBF"/>
                </a:solidFill>
              </a:rPr>
              <a:t>22P-9366)</a:t>
            </a:r>
            <a:endParaRPr>
              <a:solidFill>
                <a:srgbClr val="BFBFBF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BFBFBF"/>
                </a:solidFill>
              </a:rPr>
              <a:t>Laiba Shahi(22P-9</a:t>
            </a:r>
            <a:r>
              <a:rPr lang="en-US"/>
              <a:t>247)</a:t>
            </a:r>
            <a:endParaRPr>
              <a:solidFill>
                <a:srgbClr val="BFBFBF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BFBFBF"/>
                </a:solidFill>
              </a:rPr>
              <a:t>Sultan Mehmood Mughal</a:t>
            </a:r>
            <a:r>
              <a:rPr lang="en-US"/>
              <a:t>(22P-9242)</a:t>
            </a:r>
            <a:endParaRPr>
              <a:solidFill>
                <a:srgbClr val="BFBFBF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None/>
            </a:pP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832150" y="4709275"/>
            <a:ext cx="39576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Supervisor</a:t>
            </a:r>
            <a:endParaRPr sz="2500" b="1" dirty="0">
              <a:solidFill>
                <a:srgbClr val="BFBFB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dirty="0" err="1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Dr.Hafeez</a:t>
            </a:r>
            <a:r>
              <a:rPr lang="en-US" sz="250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Anwar</a:t>
            </a:r>
            <a:endParaRPr sz="2500">
              <a:solidFill>
                <a:srgbClr val="BFBFB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endParaRPr sz="2200" dirty="0">
              <a:solidFill>
                <a:srgbClr val="BFBFB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09" name="Google Shape;109;p15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7193" y="278875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1578800" y="361025"/>
            <a:ext cx="9234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u="sng"/>
              <a:t>Introduction</a:t>
            </a:r>
            <a:endParaRPr b="1" u="sng"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1261875" y="2239650"/>
            <a:ext cx="8595300" cy="3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Shoplifting: </a:t>
            </a:r>
            <a:r>
              <a:rPr lang="en-US" sz="2400"/>
              <a:t>Causes heavy financial loss for malls.</a:t>
            </a:r>
            <a:endParaRPr sz="240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Manual CCTV monitoring: </a:t>
            </a:r>
            <a:r>
              <a:rPr lang="en-US" sz="2400"/>
              <a:t>Slow, high chances of error, thief may escape.</a:t>
            </a:r>
            <a:endParaRPr sz="240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Need: </a:t>
            </a:r>
            <a:r>
              <a:rPr lang="en-US" sz="2400"/>
              <a:t>Real-time, automated multi-camera theft detection.</a:t>
            </a:r>
            <a:endParaRPr sz="240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Value: </a:t>
            </a:r>
            <a:r>
              <a:rPr lang="en-US" sz="2400"/>
              <a:t>High security, reduced financial losses, timely alerts for staff.</a:t>
            </a:r>
            <a:endParaRPr sz="2400"/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16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1261875" y="434475"/>
            <a:ext cx="9383700" cy="11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u="sng"/>
              <a:t>Motivation</a:t>
            </a:r>
            <a:endParaRPr b="1" u="sng"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1"/>
          </p:nvPr>
        </p:nvSpPr>
        <p:spPr>
          <a:xfrm>
            <a:off x="1068350" y="1970250"/>
            <a:ext cx="8788800" cy="4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Looking for a real-world problem</a:t>
            </a:r>
            <a:endParaRPr sz="240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Visit to Inspire Mall</a:t>
            </a:r>
            <a:endParaRPr sz="240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Insight:</a:t>
            </a:r>
            <a:r>
              <a:rPr lang="en-US" sz="2400"/>
              <a:t> </a:t>
            </a:r>
            <a:r>
              <a:rPr lang="en-US" sz="2400" i="1"/>
              <a:t>“We have CCTV cameras, but by the time we notice theft in footage, the thief has already left.”</a:t>
            </a:r>
            <a:endParaRPr sz="2400" i="1"/>
          </a:p>
          <a:p>
            <a:pPr marL="4572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i="1"/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Delayed Response:</a:t>
            </a:r>
            <a:r>
              <a:rPr lang="en-US" sz="2400"/>
              <a:t> Security reacts slowly</a:t>
            </a:r>
            <a:endParaRPr sz="240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Inefficient Monitoring:</a:t>
            </a:r>
            <a:r>
              <a:rPr lang="en-US" sz="2400"/>
              <a:t> Human errors occur</a:t>
            </a:r>
            <a:endParaRPr sz="240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Increased Operational Cost: </a:t>
            </a:r>
            <a:r>
              <a:rPr lang="en-US" sz="2400"/>
              <a:t>More staff needed</a:t>
            </a:r>
            <a:endParaRPr sz="240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Revenue Loss:</a:t>
            </a:r>
            <a:r>
              <a:rPr lang="en-US" sz="2400"/>
              <a:t> Shops lose profit</a:t>
            </a:r>
            <a:endParaRPr sz="2400" b="1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No Real-Time Tracking:</a:t>
            </a:r>
            <a:r>
              <a:rPr lang="en-US" sz="2400"/>
              <a:t> Thieves go unseen</a:t>
            </a:r>
            <a:endParaRPr sz="2400"/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1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25" name="Google Shape;125;p17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678500" y="365750"/>
            <a:ext cx="10276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u="sng"/>
              <a:t>Problem Statement</a:t>
            </a:r>
            <a:endParaRPr b="1" u="sng"/>
          </a:p>
        </p:txBody>
      </p:sp>
      <p:sp>
        <p:nvSpPr>
          <p:cNvPr id="147" name="Google Shape;147;p20"/>
          <p:cNvSpPr txBox="1">
            <a:spLocks noGrp="1"/>
          </p:cNvSpPr>
          <p:nvPr>
            <p:ph type="body" idx="1"/>
          </p:nvPr>
        </p:nvSpPr>
        <p:spPr>
          <a:xfrm>
            <a:off x="814575" y="1821000"/>
            <a:ext cx="5918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Current Situation:</a:t>
            </a:r>
            <a:r>
              <a:rPr lang="en-US" sz="2400"/>
              <a:t> CCTV in malls is manual/single-camera; existing systems detect anomalies only.                                                                    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Gap:</a:t>
            </a:r>
            <a:r>
              <a:rPr lang="en-US" sz="2400"/>
              <a:t> No continuous customer tracking across cameras → occlusion,</a:t>
            </a:r>
            <a:endParaRPr sz="2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 ID switching, lost trace.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Impact:</a:t>
            </a:r>
            <a:r>
              <a:rPr lang="en-US" sz="2400"/>
              <a:t> Higher theft risk, revenue loss, extra staff workload, reduced safety.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Scope:</a:t>
            </a:r>
            <a:r>
              <a:rPr lang="en-US" sz="2400"/>
              <a:t> FYP aims to design an </a:t>
            </a:r>
            <a:r>
              <a:rPr lang="en-US" sz="2400" b="1"/>
              <a:t>AI-based multi-camera customer tracking system</a:t>
            </a:r>
            <a:r>
              <a:rPr lang="en-US" sz="2400"/>
              <a:t> for malls.</a:t>
            </a:r>
            <a:endParaRPr sz="2400"/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8" name="Google Shape;148;p2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3">
            <a:alphaModFix/>
          </a:blip>
          <a:srcRect l="3877" t="10321" r="5312" b="13278"/>
          <a:stretch/>
        </p:blipFill>
        <p:spPr>
          <a:xfrm>
            <a:off x="6660825" y="2074625"/>
            <a:ext cx="4462400" cy="337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 descr="National University of Computer and Emerging Sciences - Wikip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u="sng"/>
              <a:t>Solution</a:t>
            </a:r>
            <a:endParaRPr b="1" u="sng"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1261875" y="1947850"/>
            <a:ext cx="5898900" cy="4536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US" sz="2400"/>
              <a:t>We propose to develop an </a:t>
            </a:r>
            <a:r>
              <a:rPr lang="en-US" sz="2400" b="1"/>
              <a:t>AI-powered real-time theft detection system</a:t>
            </a:r>
            <a:r>
              <a:rPr lang="en-US" sz="2400"/>
              <a:t> that enhances existing CCTV cameras by making them intelligent. The system will:</a:t>
            </a:r>
            <a:endParaRPr sz="2400"/>
          </a:p>
          <a:p>
            <a:pPr marL="457200" lvl="0" indent="-3810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Recognize suspicious actions</a:t>
            </a:r>
            <a:r>
              <a:rPr lang="en-US" sz="2400"/>
              <a:t>                                                                                                                                                                                                           </a:t>
            </a:r>
            <a:endParaRPr sz="2400"/>
          </a:p>
          <a:p>
            <a:pPr marL="457200" lvl="0" indent="-381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 Send instant alerts</a:t>
            </a:r>
            <a:r>
              <a:rPr lang="en-US" sz="2400"/>
              <a:t> to security guards.</a:t>
            </a:r>
            <a:endParaRPr sz="2400"/>
          </a:p>
          <a:p>
            <a:pPr marL="457200" lvl="0" indent="-381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Store evidence</a:t>
            </a:r>
            <a:r>
              <a:rPr lang="en-US" sz="2400"/>
              <a:t> (screenshots, timestamps) in a database for later use.</a:t>
            </a:r>
            <a:endParaRPr sz="2400"/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endParaRPr sz="240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endParaRPr sz="2400"/>
          </a:p>
          <a:p>
            <a:pPr marL="457200" lvl="0" indent="0" algn="l" rtl="0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endParaRPr sz="2400"/>
          </a:p>
        </p:txBody>
      </p:sp>
      <p:sp>
        <p:nvSpPr>
          <p:cNvPr id="157" name="Google Shape;157;p2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58" name="Google Shape;158;p21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l="-2980" t="-5713" r="2980" b="8209"/>
          <a:stretch/>
        </p:blipFill>
        <p:spPr>
          <a:xfrm>
            <a:off x="7058950" y="1760050"/>
            <a:ext cx="4057900" cy="37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u="sng"/>
              <a:t>Solution continuation…</a:t>
            </a:r>
            <a:endParaRPr b="1" u="sng"/>
          </a:p>
        </p:txBody>
      </p:sp>
      <p:sp>
        <p:nvSpPr>
          <p:cNvPr id="165" name="Google Shape;165;p22"/>
          <p:cNvSpPr txBox="1">
            <a:spLocks noGrp="1"/>
          </p:cNvSpPr>
          <p:nvPr>
            <p:ph type="body" idx="1"/>
          </p:nvPr>
        </p:nvSpPr>
        <p:spPr>
          <a:xfrm>
            <a:off x="1261875" y="1760050"/>
            <a:ext cx="10031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 b="1"/>
              <a:t>ey Solution Components</a:t>
            </a:r>
            <a:endParaRPr sz="2400" b="1"/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Computer Vision: </a:t>
            </a:r>
            <a:r>
              <a:rPr lang="en-US" sz="2400"/>
              <a:t> For object and human movement detection.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Deep Learning:</a:t>
            </a:r>
            <a:r>
              <a:rPr lang="en-US" sz="2400"/>
              <a:t> AI model training to recognize suspicious patterns.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Action Recognition:</a:t>
            </a:r>
            <a:r>
              <a:rPr lang="en-US" sz="2400"/>
              <a:t> Identifying specific theft-related actions.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Alert Dashboard:</a:t>
            </a:r>
            <a:r>
              <a:rPr lang="en-US" sz="2400"/>
              <a:t> Web-based interface for mall security staff.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/>
              <a:t>Database Logging:</a:t>
            </a:r>
            <a:r>
              <a:rPr lang="en-US" sz="2400"/>
              <a:t> Secure storage of theft incidents for reporting and analysis.</a:t>
            </a:r>
            <a:endParaRPr sz="2400" b="1"/>
          </a:p>
        </p:txBody>
      </p:sp>
      <p:sp>
        <p:nvSpPr>
          <p:cNvPr id="166" name="Google Shape;166;p2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7" name="Google Shape;167;p22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u="sng"/>
              <a:t>Scope of the project</a:t>
            </a:r>
            <a:endParaRPr b="1" u="sng"/>
          </a:p>
        </p:txBody>
      </p:sp>
      <p:sp>
        <p:nvSpPr>
          <p:cNvPr id="173" name="Google Shape;173;p23"/>
          <p:cNvSpPr txBox="1">
            <a:spLocks noGrp="1"/>
          </p:cNvSpPr>
          <p:nvPr>
            <p:ph type="body" idx="1"/>
          </p:nvPr>
        </p:nvSpPr>
        <p:spPr>
          <a:xfrm>
            <a:off x="1261875" y="1760050"/>
            <a:ext cx="7259100" cy="3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9144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/>
              <a:t>Covered in project</a:t>
            </a:r>
            <a:r>
              <a:rPr lang="en-US" sz="2400" b="1"/>
              <a:t>:</a:t>
            </a:r>
            <a:br>
              <a:rPr lang="en-US" sz="2400"/>
            </a:b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Data collection and preprocessing.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AI model training (object + action recognition).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Real-time video analysis.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Dashboard with alerts.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Database logging.</a:t>
            </a:r>
            <a:br>
              <a:rPr lang="en-US" sz="2400"/>
            </a:br>
            <a:endParaRPr sz="24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5" name="Google Shape;175;p23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u="sng"/>
              <a:t>Goals</a:t>
            </a:r>
            <a:endParaRPr b="1" u="sng"/>
          </a:p>
        </p:txBody>
      </p:sp>
      <p:sp>
        <p:nvSpPr>
          <p:cNvPr id="181" name="Google Shape;181;p24"/>
          <p:cNvSpPr txBox="1">
            <a:spLocks noGrp="1"/>
          </p:cNvSpPr>
          <p:nvPr>
            <p:ph type="body" idx="1"/>
          </p:nvPr>
        </p:nvSpPr>
        <p:spPr>
          <a:xfrm>
            <a:off x="1171325" y="1820875"/>
            <a:ext cx="8840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Design a system to automatically detect theft.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 Provide a </a:t>
            </a:r>
            <a:r>
              <a:rPr lang="en-US" sz="2400" b="1"/>
              <a:t>cost-effective alternative.</a:t>
            </a:r>
            <a:endParaRPr sz="2400" b="1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 Reduce </a:t>
            </a:r>
            <a:r>
              <a:rPr lang="en-US" sz="2400" b="1"/>
              <a:t>human dependency</a:t>
            </a:r>
            <a:r>
              <a:rPr lang="en-US" sz="2400"/>
              <a:t> on continuous CCTV monitoring.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 Create a system capable of </a:t>
            </a:r>
            <a:r>
              <a:rPr lang="en-US" sz="2400" b="1"/>
              <a:t>real-time detection</a:t>
            </a:r>
            <a:r>
              <a:rPr lang="en-US" sz="2400"/>
              <a:t> using live video streams.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 Increase security efficiency by providing instant alerts of suspicious activities.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Contribute towards </a:t>
            </a:r>
            <a:r>
              <a:rPr lang="en-US" sz="2400" b="1"/>
              <a:t>loss prevention </a:t>
            </a:r>
            <a:r>
              <a:rPr lang="en-US" sz="2400"/>
              <a:t>for malls </a:t>
            </a:r>
            <a:r>
              <a:rPr lang="en-US" sz="2400" b="1"/>
              <a:t>,</a:t>
            </a:r>
            <a:r>
              <a:rPr lang="en-US" sz="2400"/>
              <a:t>hence improving business profit.</a:t>
            </a:r>
            <a:endParaRPr sz="2400"/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2" name="Google Shape;182;p2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3" name="Google Shape;183;p24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u="sng"/>
              <a:t>Objectives</a:t>
            </a:r>
            <a:endParaRPr b="1" u="sng"/>
          </a:p>
        </p:txBody>
      </p:sp>
      <p:sp>
        <p:nvSpPr>
          <p:cNvPr id="189" name="Google Shape;189;p25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endParaRPr/>
          </a:p>
          <a:p>
            <a:pPr marL="457200" lvl="1" indent="-812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1" name="Google Shape;191;p25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25" y="287575"/>
            <a:ext cx="10973374" cy="56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b="1" u="sng"/>
              <a:t>Expected Result</a:t>
            </a:r>
            <a:endParaRPr b="1" u="sng"/>
          </a:p>
        </p:txBody>
      </p:sp>
      <p:sp>
        <p:nvSpPr>
          <p:cNvPr id="198" name="Google Shape;198;p26"/>
          <p:cNvSpPr txBox="1">
            <a:spLocks noGrp="1"/>
          </p:cNvSpPr>
          <p:nvPr>
            <p:ph type="body" idx="1"/>
          </p:nvPr>
        </p:nvSpPr>
        <p:spPr>
          <a:xfrm>
            <a:off x="1213022" y="18210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 A </a:t>
            </a:r>
            <a:r>
              <a:rPr lang="en-US" sz="2400" b="1"/>
              <a:t>working system</a:t>
            </a:r>
            <a:r>
              <a:rPr lang="en-US" sz="2400"/>
              <a:t> that can analyze CCTV footage.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 Detection of people in the video stream.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/>
              <a:t> Reliable tracking of individuals</a:t>
            </a:r>
            <a:r>
              <a:rPr lang="en-US" sz="2400" b="1"/>
              <a:t>.</a:t>
            </a:r>
            <a:endParaRPr sz="2400" b="1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 Identifying suspicious behaviors.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1"/>
              <a:t> Alert system </a:t>
            </a:r>
            <a:r>
              <a:rPr lang="en-US" sz="2400"/>
              <a:t>for notifying security staff.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 Reduce reliance on manual monitoring, minimizing human error.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 Scalable solution that can be extended to multiple cameras and larger retail stores.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Char char="●"/>
            </a:pPr>
            <a:r>
              <a:rPr lang="en-US" sz="2400"/>
              <a:t> A foundation for future improvements.</a:t>
            </a:r>
            <a:endParaRPr sz="2400"/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9" name="Google Shape;199;p2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00" name="Google Shape;200;p26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>
            <a:spLocks noGrp="1"/>
          </p:cNvSpPr>
          <p:nvPr>
            <p:ph type="title"/>
          </p:nvPr>
        </p:nvSpPr>
        <p:spPr>
          <a:xfrm>
            <a:off x="759881" y="367753"/>
            <a:ext cx="9857295" cy="177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r>
              <a:rPr lang="en-US" dirty="0"/>
              <a:t>Work Distribution</a:t>
            </a:r>
            <a:br>
              <a:rPr lang="en-US" dirty="0"/>
            </a:br>
            <a:br>
              <a:rPr lang="en-US" dirty="0"/>
            </a:br>
            <a:endParaRPr b="1" u="sng" dirty="0"/>
          </a:p>
        </p:txBody>
      </p:sp>
      <p:sp>
        <p:nvSpPr>
          <p:cNvPr id="207" name="Google Shape;207;p2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08" name="Google Shape;208;p27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A1AB8F-CB52-F412-724A-D4221A38A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781932"/>
              </p:ext>
            </p:extLst>
          </p:nvPr>
        </p:nvGraphicFramePr>
        <p:xfrm>
          <a:off x="895149" y="1760061"/>
          <a:ext cx="9586761" cy="4193596"/>
        </p:xfrm>
        <a:graphic>
          <a:graphicData uri="http://schemas.openxmlformats.org/drawingml/2006/table">
            <a:tbl>
              <a:tblPr/>
              <a:tblGrid>
                <a:gridCol w="3195587">
                  <a:extLst>
                    <a:ext uri="{9D8B030D-6E8A-4147-A177-3AD203B41FA5}">
                      <a16:colId xmlns:a16="http://schemas.microsoft.com/office/drawing/2014/main" val="2789775405"/>
                    </a:ext>
                  </a:extLst>
                </a:gridCol>
                <a:gridCol w="3195587">
                  <a:extLst>
                    <a:ext uri="{9D8B030D-6E8A-4147-A177-3AD203B41FA5}">
                      <a16:colId xmlns:a16="http://schemas.microsoft.com/office/drawing/2014/main" val="2495457818"/>
                    </a:ext>
                  </a:extLst>
                </a:gridCol>
                <a:gridCol w="3195587">
                  <a:extLst>
                    <a:ext uri="{9D8B030D-6E8A-4147-A177-3AD203B41FA5}">
                      <a16:colId xmlns:a16="http://schemas.microsoft.com/office/drawing/2014/main" val="152888012"/>
                    </a:ext>
                  </a:extLst>
                </a:gridCol>
              </a:tblGrid>
              <a:tr h="7112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Schoolbook" panose="02040604050505020304" pitchFamily="18" charset="0"/>
                        </a:rPr>
                        <a:t>Name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31750" marB="31750" anchor="ctr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A9B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entury Schoolbook" panose="02040604050505020304" pitchFamily="18" charset="0"/>
                        </a:rPr>
                        <a:t> Roll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31750" marB="31750" anchor="ctr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A9B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Century Schoolbook" panose="02040604050505020304" pitchFamily="18" charset="0"/>
                        </a:rPr>
                        <a:t>Contribution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31750" marB="31750" anchor="ctr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A9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086491"/>
                  </a:ext>
                </a:extLst>
              </a:tr>
              <a:tr h="100691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Sultan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mehmood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 Mughal</a:t>
                      </a:r>
                    </a:p>
                    <a:p>
                      <a:pPr rtl="0" fontAlgn="t">
                        <a:buNone/>
                      </a:pPr>
                      <a:endParaRPr lang="en-US" sz="1800" dirty="0">
                        <a:effectLst/>
                      </a:endParaRPr>
                    </a:p>
                  </a:txBody>
                  <a:tcPr marL="63500" marR="63500" marT="31750" marB="31750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1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22p-9242</a:t>
                      </a:r>
                    </a:p>
                    <a:p>
                      <a:pPr rtl="0" fontAlgn="t">
                        <a:buNone/>
                      </a:pPr>
                      <a:endParaRPr lang="en-US" sz="1800" dirty="0">
                        <a:effectLst/>
                      </a:endParaRPr>
                    </a:p>
                  </a:txBody>
                  <a:tcPr marL="63500" marR="63500" marT="31750" marB="31750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1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Data collection , Data preprocessing , literature review </a:t>
                      </a:r>
                      <a:endParaRPr lang="en-US" sz="1800" dirty="0">
                        <a:effectLst/>
                      </a:endParaRPr>
                    </a:p>
                    <a:p>
                      <a:pPr fontAlgn="t">
                        <a:buNone/>
                      </a:pPr>
                      <a:br>
                        <a:rPr lang="en-US" sz="1800" dirty="0">
                          <a:effectLst/>
                        </a:rPr>
                      </a:br>
                      <a:endParaRPr lang="en-US" sz="1800" dirty="0">
                        <a:effectLst/>
                      </a:endParaRPr>
                    </a:p>
                  </a:txBody>
                  <a:tcPr marL="63500" marR="63500" marT="31750" marB="31750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729252"/>
                  </a:ext>
                </a:extLst>
              </a:tr>
              <a:tr h="711256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Muhammad Nadeem</a:t>
                      </a:r>
                      <a:endParaRPr lang="en-US" sz="18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endParaRPr lang="en-US" sz="1800" dirty="0">
                        <a:effectLst/>
                      </a:endParaRPr>
                    </a:p>
                  </a:txBody>
                  <a:tcPr marL="63500" marR="63500" marT="31750" marB="31750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22p-9366</a:t>
                      </a:r>
                      <a:endParaRPr lang="en-US" sz="18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endParaRPr lang="en-US" sz="1800" dirty="0">
                        <a:effectLst/>
                      </a:endParaRPr>
                    </a:p>
                  </a:txBody>
                  <a:tcPr marL="63500" marR="63500" marT="31750" marB="31750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Model Selection, literature review </a:t>
                      </a:r>
                      <a:endParaRPr lang="en-US" sz="18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endParaRPr lang="en-US" sz="1800" dirty="0">
                        <a:effectLst/>
                      </a:endParaRPr>
                    </a:p>
                  </a:txBody>
                  <a:tcPr marL="63500" marR="63500" marT="31750" marB="31750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52689"/>
                  </a:ext>
                </a:extLst>
              </a:tr>
              <a:tr h="772619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Laiba Shahi</a:t>
                      </a:r>
                    </a:p>
                    <a:p>
                      <a:pPr rtl="0" fontAlgn="t">
                        <a:buNone/>
                      </a:pPr>
                      <a:endParaRPr lang="en-US" sz="1800" dirty="0">
                        <a:effectLst/>
                      </a:endParaRPr>
                    </a:p>
                  </a:txBody>
                  <a:tcPr marL="63500" marR="63500" marT="31750" marB="31750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1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22p-9247</a:t>
                      </a:r>
                    </a:p>
                    <a:p>
                      <a:pPr rtl="0" fontAlgn="t">
                        <a:buNone/>
                      </a:pPr>
                      <a:endParaRPr lang="en-US" sz="1800" dirty="0">
                        <a:effectLst/>
                      </a:endParaRPr>
                    </a:p>
                  </a:txBody>
                  <a:tcPr marL="63500" marR="63500" marT="31750" marB="31750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1E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UI, comparison with other Models,</a:t>
                      </a:r>
                      <a:endParaRPr lang="en-US" sz="18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Schoolbook" panose="02040604050505020304" pitchFamily="18" charset="0"/>
                        </a:rPr>
                        <a:t>literature review </a:t>
                      </a:r>
                    </a:p>
                    <a:p>
                      <a:pPr rtl="0" fontAlgn="t">
                        <a:buNone/>
                      </a:pPr>
                      <a:endParaRPr lang="en-US" sz="1800" dirty="0">
                        <a:effectLst/>
                      </a:endParaRPr>
                    </a:p>
                  </a:txBody>
                  <a:tcPr marL="63500" marR="63500" marT="31750" marB="31750">
                    <a:lnL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7529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28D84BA7-8DB0-F210-ECC7-20B9D76C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100D50AF-D5E6-0FA4-85FB-0231F46FF30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412234" y="1324781"/>
            <a:ext cx="10025400" cy="268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9600" dirty="0"/>
              <a:t>Thank You</a:t>
            </a:r>
            <a:endParaRPr sz="9600" dirty="0"/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010683A8-BA2F-7EF2-F9EE-D18DBCD1E856}"/>
              </a:ext>
            </a:extLst>
          </p:cNvPr>
          <p:cNvSpPr txBox="1"/>
          <p:nvPr/>
        </p:nvSpPr>
        <p:spPr>
          <a:xfrm>
            <a:off x="7832150" y="4709275"/>
            <a:ext cx="39576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endParaRPr sz="2200" dirty="0">
              <a:solidFill>
                <a:srgbClr val="BFBFB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09" name="Google Shape;109;p15" descr="National University of Computer and Emerging Sciences - Wikipedia">
            <a:extLst>
              <a:ext uri="{FF2B5EF4-FFF2-40B4-BE49-F238E27FC236}">
                <a16:creationId xmlns:a16="http://schemas.microsoft.com/office/drawing/2014/main" id="{57FA417D-B208-7242-220C-8388A92D1F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7193" y="278875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434468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545</Words>
  <Application>Microsoft Office PowerPoint</Application>
  <PresentationFormat>Widescreen</PresentationFormat>
  <Paragraphs>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Century Schoolbook</vt:lpstr>
      <vt:lpstr>Arial</vt:lpstr>
      <vt:lpstr>Calibri</vt:lpstr>
      <vt:lpstr>View</vt:lpstr>
      <vt:lpstr>View</vt:lpstr>
      <vt:lpstr>AI-Powered Real-Time Theft Detection System for Shopping Malls</vt:lpstr>
      <vt:lpstr>Introduction</vt:lpstr>
      <vt:lpstr>Motivation</vt:lpstr>
      <vt:lpstr>Problem Statement</vt:lpstr>
      <vt:lpstr>Solution</vt:lpstr>
      <vt:lpstr>Solution continuation…</vt:lpstr>
      <vt:lpstr>Scope of the project</vt:lpstr>
      <vt:lpstr>Goals</vt:lpstr>
      <vt:lpstr>Objectives</vt:lpstr>
      <vt:lpstr>Expected Result</vt:lpstr>
      <vt:lpstr>Work Distribution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Nadeem FASTian</cp:lastModifiedBy>
  <cp:revision>3</cp:revision>
  <dcterms:modified xsi:type="dcterms:W3CDTF">2026-02-05T12:00:54Z</dcterms:modified>
</cp:coreProperties>
</file>